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embeddedFontLst>
    <p:embeddedFont>
      <p:font typeface="Funnel Display Medium"/>
      <p:regular r:id="rId14"/>
    </p:embeddedFont>
    <p:embeddedFont>
      <p:font typeface="Funnel Display Medium"/>
      <p:regular r:id="rId15"/>
    </p:embeddedFont>
    <p:embeddedFont>
      <p:font typeface="Nobile"/>
      <p:regular r:id="rId16"/>
    </p:embeddedFont>
    <p:embeddedFont>
      <p:font typeface="Nobile"/>
      <p:regular r:id="rId17"/>
    </p:embeddedFont>
    <p:embeddedFont>
      <p:font typeface="Nobile"/>
      <p:regular r:id="rId18"/>
    </p:embeddedFont>
    <p:embeddedFont>
      <p:font typeface="Nobile"/>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392C"/>
          </a:solidFill>
          <a:ln/>
        </p:spPr>
      </p:sp>
      <p:sp>
        <p:nvSpPr>
          <p:cNvPr id="3" name="Shape 1"/>
          <p:cNvSpPr/>
          <p:nvPr/>
        </p:nvSpPr>
        <p:spPr>
          <a:xfrm>
            <a:off x="0" y="0"/>
            <a:ext cx="14630400" cy="8229600"/>
          </a:xfrm>
          <a:prstGeom prst="rect">
            <a:avLst/>
          </a:prstGeom>
          <a:solidFill>
            <a:srgbClr val="FA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392C"/>
          </a:solidFill>
          <a:ln/>
        </p:spPr>
      </p:sp>
      <p:sp>
        <p:nvSpPr>
          <p:cNvPr id="3" name="Shape 1"/>
          <p:cNvSpPr/>
          <p:nvPr/>
        </p:nvSpPr>
        <p:spPr>
          <a:xfrm>
            <a:off x="0" y="0"/>
            <a:ext cx="14630400" cy="8229600"/>
          </a:xfrm>
          <a:prstGeom prst="rect">
            <a:avLst/>
          </a:prstGeom>
          <a:solidFill>
            <a:srgbClr val="FA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392C"/>
          </a:solidFill>
          <a:ln/>
        </p:spPr>
      </p:sp>
      <p:sp>
        <p:nvSpPr>
          <p:cNvPr id="3" name="Shape 1"/>
          <p:cNvSpPr/>
          <p:nvPr/>
        </p:nvSpPr>
        <p:spPr>
          <a:xfrm>
            <a:off x="0" y="0"/>
            <a:ext cx="14630400" cy="8229600"/>
          </a:xfrm>
          <a:prstGeom prst="rect">
            <a:avLst/>
          </a:prstGeom>
          <a:solidFill>
            <a:srgbClr val="FA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392C"/>
          </a:solidFill>
          <a:ln/>
        </p:spPr>
      </p:sp>
      <p:sp>
        <p:nvSpPr>
          <p:cNvPr id="3" name="Shape 1"/>
          <p:cNvSpPr/>
          <p:nvPr/>
        </p:nvSpPr>
        <p:spPr>
          <a:xfrm>
            <a:off x="0" y="0"/>
            <a:ext cx="14630400" cy="8229600"/>
          </a:xfrm>
          <a:prstGeom prst="rect">
            <a:avLst/>
          </a:prstGeom>
          <a:solidFill>
            <a:srgbClr val="FA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392C"/>
          </a:solidFill>
          <a:ln/>
        </p:spPr>
      </p:sp>
      <p:sp>
        <p:nvSpPr>
          <p:cNvPr id="3" name="Shape 1"/>
          <p:cNvSpPr/>
          <p:nvPr/>
        </p:nvSpPr>
        <p:spPr>
          <a:xfrm>
            <a:off x="0" y="0"/>
            <a:ext cx="14630400" cy="8229600"/>
          </a:xfrm>
          <a:prstGeom prst="rect">
            <a:avLst/>
          </a:prstGeom>
          <a:solidFill>
            <a:srgbClr val="FA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392C"/>
          </a:solidFill>
          <a:ln/>
        </p:spPr>
      </p:sp>
      <p:sp>
        <p:nvSpPr>
          <p:cNvPr id="3" name="Shape 1"/>
          <p:cNvSpPr/>
          <p:nvPr/>
        </p:nvSpPr>
        <p:spPr>
          <a:xfrm>
            <a:off x="0" y="0"/>
            <a:ext cx="14630400" cy="8229600"/>
          </a:xfrm>
          <a:prstGeom prst="rect">
            <a:avLst/>
          </a:prstGeom>
          <a:solidFill>
            <a:srgbClr val="FA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392C"/>
          </a:solidFill>
          <a:ln/>
        </p:spPr>
      </p:sp>
      <p:sp>
        <p:nvSpPr>
          <p:cNvPr id="3" name="Shape 1"/>
          <p:cNvSpPr/>
          <p:nvPr/>
        </p:nvSpPr>
        <p:spPr>
          <a:xfrm>
            <a:off x="0" y="0"/>
            <a:ext cx="14630400" cy="8229600"/>
          </a:xfrm>
          <a:prstGeom prst="rect">
            <a:avLst/>
          </a:prstGeom>
          <a:solidFill>
            <a:srgbClr val="FAFA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727597"/>
            <a:ext cx="7332345" cy="2268379"/>
          </a:xfrm>
          <a:prstGeom prst="rect">
            <a:avLst/>
          </a:prstGeom>
          <a:noFill/>
          <a:ln/>
        </p:spPr>
        <p:txBody>
          <a:bodyPr wrap="square" lIns="0" tIns="0" rIns="0" bIns="0" rtlCol="0" anchor="t"/>
          <a:lstStyle/>
          <a:p>
            <a:pPr algn="l" indent="0" marL="0">
              <a:lnSpc>
                <a:spcPts val="8900"/>
              </a:lnSpc>
              <a:buNone/>
            </a:pPr>
            <a:r>
              <a:rPr lang="en-US" sz="8900" dirty="0">
                <a:solidFill>
                  <a:srgbClr val="2C0306"/>
                </a:solidFill>
                <a:latin typeface="Funnel Display Medium" pitchFamily="34" charset="0"/>
                <a:ea typeface="Funnel Display Medium" pitchFamily="34" charset="-122"/>
                <a:cs typeface="Funnel Display Medium" pitchFamily="34" charset="-120"/>
              </a:rPr>
              <a:t>Modern ASR Architectures</a:t>
            </a:r>
            <a:endParaRPr lang="en-US" sz="8900" dirty="0"/>
          </a:p>
        </p:txBody>
      </p:sp>
      <p:sp>
        <p:nvSpPr>
          <p:cNvPr id="3" name="Shape 1"/>
          <p:cNvSpPr/>
          <p:nvPr/>
        </p:nvSpPr>
        <p:spPr>
          <a:xfrm>
            <a:off x="763310" y="4220647"/>
            <a:ext cx="60960" cy="344448"/>
          </a:xfrm>
          <a:prstGeom prst="rect">
            <a:avLst/>
          </a:prstGeom>
          <a:solidFill>
            <a:srgbClr val="190F6F"/>
          </a:solidFill>
          <a:ln/>
        </p:spPr>
      </p:sp>
      <p:sp>
        <p:nvSpPr>
          <p:cNvPr id="4" name="Text 2"/>
          <p:cNvSpPr/>
          <p:nvPr/>
        </p:nvSpPr>
        <p:spPr>
          <a:xfrm>
            <a:off x="1081564" y="4251127"/>
            <a:ext cx="6122670" cy="283488"/>
          </a:xfrm>
          <a:prstGeom prst="rect">
            <a:avLst/>
          </a:prstGeom>
          <a:noFill/>
          <a:ln/>
        </p:spPr>
        <p:txBody>
          <a:bodyPr wrap="none" lIns="0" tIns="0" rIns="0" bIns="0" rtlCol="0" anchor="t"/>
          <a:lstStyle/>
          <a:p>
            <a:pPr algn="l" indent="0" marL="0">
              <a:lnSpc>
                <a:spcPts val="2200"/>
              </a:lnSpc>
              <a:buNone/>
            </a:pPr>
            <a:r>
              <a:rPr lang="en-US" sz="2200" dirty="0">
                <a:solidFill>
                  <a:srgbClr val="1E1B1B"/>
                </a:solidFill>
                <a:latin typeface="Funnel Display Medium" pitchFamily="34" charset="0"/>
                <a:ea typeface="Funnel Display Medium" pitchFamily="34" charset="-122"/>
                <a:cs typeface="Funnel Display Medium" pitchFamily="34" charset="-120"/>
              </a:rPr>
              <a:t>From Global Standards to Indic Specialization</a:t>
            </a:r>
            <a:endParaRPr lang="en-US" sz="2200" dirty="0"/>
          </a:p>
        </p:txBody>
      </p:sp>
      <p:sp>
        <p:nvSpPr>
          <p:cNvPr id="5" name="Text 3"/>
          <p:cNvSpPr/>
          <p:nvPr/>
        </p:nvSpPr>
        <p:spPr>
          <a:xfrm>
            <a:off x="793790" y="4789765"/>
            <a:ext cx="7332345" cy="1020485"/>
          </a:xfrm>
          <a:prstGeom prst="rect">
            <a:avLst/>
          </a:prstGeom>
          <a:noFill/>
          <a:ln/>
        </p:spPr>
        <p:txBody>
          <a:bodyPr wrap="square" lIns="0" tIns="0" rIns="0" bIns="0" rtlCol="0" anchor="t"/>
          <a:lstStyle/>
          <a:p>
            <a:pPr algn="l" indent="0" marL="0">
              <a:lnSpc>
                <a:spcPts val="2650"/>
              </a:lnSpc>
              <a:buNone/>
            </a:pPr>
            <a:r>
              <a:rPr lang="en-US" sz="1750" dirty="0">
                <a:solidFill>
                  <a:srgbClr val="1E1B1B"/>
                </a:solidFill>
                <a:latin typeface="Nobile" pitchFamily="34" charset="0"/>
                <a:ea typeface="Nobile" pitchFamily="34" charset="-122"/>
                <a:cs typeface="Nobile" pitchFamily="34" charset="-120"/>
              </a:rPr>
              <a:t>A technical deep dive comparing state-of-the-art Automatic Speech Recognition models — Indic Conformer, Whisper V3 Turbo, and IndicWav2Vec — for the modern AI practitioner</a:t>
            </a:r>
            <a:endParaRPr lang="en-US" sz="1750" dirty="0"/>
          </a:p>
        </p:txBody>
      </p:sp>
      <p:sp>
        <p:nvSpPr>
          <p:cNvPr id="6" name="Shape 4"/>
          <p:cNvSpPr/>
          <p:nvPr/>
        </p:nvSpPr>
        <p:spPr>
          <a:xfrm>
            <a:off x="793790" y="6065401"/>
            <a:ext cx="2084546" cy="408146"/>
          </a:xfrm>
          <a:prstGeom prst="roundRect">
            <a:avLst>
              <a:gd name="adj" fmla="val 18673"/>
            </a:avLst>
          </a:prstGeom>
          <a:solidFill>
            <a:srgbClr val="FDD35D"/>
          </a:solidFill>
          <a:ln/>
        </p:spPr>
      </p:sp>
      <p:sp>
        <p:nvSpPr>
          <p:cNvPr id="7" name="Text 5"/>
          <p:cNvSpPr/>
          <p:nvPr/>
        </p:nvSpPr>
        <p:spPr>
          <a:xfrm>
            <a:off x="929878" y="6133386"/>
            <a:ext cx="1812369" cy="272177"/>
          </a:xfrm>
          <a:prstGeom prst="rect">
            <a:avLst/>
          </a:prstGeom>
          <a:noFill/>
          <a:ln/>
        </p:spPr>
        <p:txBody>
          <a:bodyPr wrap="none" lIns="0" tIns="0" rIns="0" bIns="0" rtlCol="0" anchor="t"/>
          <a:lstStyle/>
          <a:p>
            <a:pPr algn="l" indent="0" marL="0">
              <a:lnSpc>
                <a:spcPts val="2100"/>
              </a:lnSpc>
              <a:buNone/>
            </a:pPr>
            <a:r>
              <a:rPr lang="en-US" sz="1400" dirty="0">
                <a:solidFill>
                  <a:srgbClr val="000000"/>
                </a:solidFill>
                <a:latin typeface="Nobile" pitchFamily="34" charset="0"/>
                <a:ea typeface="Nobile" pitchFamily="34" charset="-122"/>
                <a:cs typeface="Nobile" pitchFamily="34" charset="-120"/>
              </a:rPr>
              <a:t>COMPUTER SCIENCE</a:t>
            </a:r>
            <a:endParaRPr lang="en-US" sz="1400" dirty="0"/>
          </a:p>
        </p:txBody>
      </p:sp>
      <p:sp>
        <p:nvSpPr>
          <p:cNvPr id="8" name="Shape 6"/>
          <p:cNvSpPr/>
          <p:nvPr/>
        </p:nvSpPr>
        <p:spPr>
          <a:xfrm>
            <a:off x="2991683" y="6065401"/>
            <a:ext cx="1204436" cy="408146"/>
          </a:xfrm>
          <a:prstGeom prst="roundRect">
            <a:avLst>
              <a:gd name="adj" fmla="val 18673"/>
            </a:avLst>
          </a:prstGeom>
          <a:solidFill>
            <a:srgbClr val="FF8225"/>
          </a:solidFill>
          <a:ln/>
        </p:spPr>
      </p:sp>
      <p:sp>
        <p:nvSpPr>
          <p:cNvPr id="9" name="Text 7"/>
          <p:cNvSpPr/>
          <p:nvPr/>
        </p:nvSpPr>
        <p:spPr>
          <a:xfrm>
            <a:off x="3127772" y="6133386"/>
            <a:ext cx="932259" cy="272177"/>
          </a:xfrm>
          <a:prstGeom prst="rect">
            <a:avLst/>
          </a:prstGeom>
          <a:noFill/>
          <a:ln/>
        </p:spPr>
        <p:txBody>
          <a:bodyPr wrap="none" lIns="0" tIns="0" rIns="0" bIns="0" rtlCol="0" anchor="t"/>
          <a:lstStyle/>
          <a:p>
            <a:pPr algn="l" indent="0" marL="0">
              <a:lnSpc>
                <a:spcPts val="2100"/>
              </a:lnSpc>
              <a:buNone/>
            </a:pPr>
            <a:r>
              <a:rPr lang="en-US" sz="1400" dirty="0">
                <a:solidFill>
                  <a:srgbClr val="000000"/>
                </a:solidFill>
                <a:latin typeface="Nobile" pitchFamily="34" charset="0"/>
                <a:ea typeface="Nobile" pitchFamily="34" charset="-122"/>
                <a:cs typeface="Nobile" pitchFamily="34" charset="-120"/>
              </a:rPr>
              <a:t>SPEECH AI</a:t>
            </a:r>
            <a:endParaRPr lang="en-US" sz="1400" dirty="0"/>
          </a:p>
        </p:txBody>
      </p:sp>
      <p:sp>
        <p:nvSpPr>
          <p:cNvPr id="10" name="Text 8"/>
          <p:cNvSpPr/>
          <p:nvPr/>
        </p:nvSpPr>
        <p:spPr>
          <a:xfrm>
            <a:off x="8687157" y="1704856"/>
            <a:ext cx="5156954" cy="340162"/>
          </a:xfrm>
          <a:prstGeom prst="rect">
            <a:avLst/>
          </a:prstGeom>
          <a:noFill/>
          <a:ln/>
        </p:spPr>
        <p:txBody>
          <a:bodyPr wrap="none" lIns="0" tIns="0" rIns="0" bIns="0" rtlCol="0" anchor="t"/>
          <a:lstStyle/>
          <a:p>
            <a:pPr algn="l" indent="0" marL="0">
              <a:lnSpc>
                <a:spcPts val="26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50069" y="1529239"/>
            <a:ext cx="1117044" cy="253841"/>
          </a:xfrm>
          <a:prstGeom prst="roundRect">
            <a:avLst>
              <a:gd name="adj" fmla="val 20804"/>
            </a:avLst>
          </a:prstGeom>
          <a:solidFill>
            <a:srgbClr val="007853"/>
          </a:solidFill>
          <a:ln/>
        </p:spPr>
      </p:sp>
      <p:sp>
        <p:nvSpPr>
          <p:cNvPr id="3" name="Text 1"/>
          <p:cNvSpPr/>
          <p:nvPr/>
        </p:nvSpPr>
        <p:spPr>
          <a:xfrm>
            <a:off x="644366" y="1576388"/>
            <a:ext cx="928449" cy="159544"/>
          </a:xfrm>
          <a:prstGeom prst="rect">
            <a:avLst/>
          </a:prstGeom>
          <a:noFill/>
          <a:ln/>
        </p:spPr>
        <p:txBody>
          <a:bodyPr wrap="none" lIns="0" tIns="0" rIns="0" bIns="0" rtlCol="0" anchor="t"/>
          <a:lstStyle/>
          <a:p>
            <a:pPr algn="l" indent="0" marL="0">
              <a:lnSpc>
                <a:spcPts val="1250"/>
              </a:lnSpc>
              <a:buNone/>
            </a:pPr>
            <a:r>
              <a:rPr lang="en-US" sz="950" dirty="0">
                <a:solidFill>
                  <a:srgbClr val="FFFFFF"/>
                </a:solidFill>
                <a:latin typeface="Nobile" pitchFamily="34" charset="0"/>
                <a:ea typeface="Nobile" pitchFamily="34" charset="-122"/>
                <a:cs typeface="Nobile" pitchFamily="34" charset="-120"/>
              </a:rPr>
              <a:t>FOUNDATIONS</a:t>
            </a:r>
            <a:endParaRPr lang="en-US" sz="950" dirty="0"/>
          </a:p>
        </p:txBody>
      </p:sp>
      <p:sp>
        <p:nvSpPr>
          <p:cNvPr id="4" name="Text 2"/>
          <p:cNvSpPr/>
          <p:nvPr/>
        </p:nvSpPr>
        <p:spPr>
          <a:xfrm>
            <a:off x="550069" y="1826538"/>
            <a:ext cx="8780740" cy="392906"/>
          </a:xfrm>
          <a:prstGeom prst="rect">
            <a:avLst/>
          </a:prstGeom>
          <a:noFill/>
          <a:ln/>
        </p:spPr>
        <p:txBody>
          <a:bodyPr wrap="none" lIns="0" tIns="0" rIns="0" bIns="0" rtlCol="0" anchor="t"/>
          <a:lstStyle/>
          <a:p>
            <a:pPr algn="l" indent="0" marL="0">
              <a:lnSpc>
                <a:spcPts val="3050"/>
              </a:lnSpc>
              <a:buNone/>
            </a:pPr>
            <a:r>
              <a:rPr lang="en-US" sz="3050" dirty="0">
                <a:solidFill>
                  <a:srgbClr val="2C0306"/>
                </a:solidFill>
                <a:latin typeface="Funnel Display Medium" pitchFamily="34" charset="0"/>
                <a:ea typeface="Funnel Display Medium" pitchFamily="34" charset="-122"/>
                <a:cs typeface="Funnel Display Medium" pitchFamily="34" charset="-120"/>
              </a:rPr>
              <a:t>ASR Fundamentals: The Sound-to-Text Pipeline</a:t>
            </a:r>
            <a:endParaRPr lang="en-US" sz="3050" dirty="0"/>
          </a:p>
        </p:txBody>
      </p:sp>
      <p:pic>
        <p:nvPicPr>
          <p:cNvPr id="5" name="Image 0" descr="preencoded.png">    </p:cNvPr>
          <p:cNvPicPr>
            <a:picLocks noChangeAspect="1"/>
          </p:cNvPicPr>
          <p:nvPr/>
        </p:nvPicPr>
        <p:blipFill>
          <a:blip r:embed="rId1"/>
          <a:stretch>
            <a:fillRect/>
          </a:stretch>
        </p:blipFill>
        <p:spPr>
          <a:xfrm>
            <a:off x="2816304" y="2382679"/>
            <a:ext cx="2232422" cy="1413034"/>
          </a:xfrm>
          <a:prstGeom prst="rect">
            <a:avLst/>
          </a:prstGeom>
        </p:spPr>
      </p:pic>
      <p:sp>
        <p:nvSpPr>
          <p:cNvPr id="6" name="Text 3"/>
          <p:cNvSpPr/>
          <p:nvPr/>
        </p:nvSpPr>
        <p:spPr>
          <a:xfrm>
            <a:off x="3821906" y="3167063"/>
            <a:ext cx="220980" cy="220980"/>
          </a:xfrm>
          <a:prstGeom prst="rect">
            <a:avLst/>
          </a:prstGeom>
          <a:noFill/>
          <a:ln/>
        </p:spPr>
        <p:txBody>
          <a:bodyPr wrap="none" lIns="0" tIns="0" rIns="0" bIns="0" rtlCol="0" anchor="t"/>
          <a:lstStyle/>
          <a:p>
            <a:pPr algn="ctr" indent="0" marL="0">
              <a:lnSpc>
                <a:spcPts val="2200"/>
              </a:lnSpc>
              <a:buNone/>
            </a:pPr>
            <a:r>
              <a:rPr lang="en-US" sz="1700" dirty="0">
                <a:solidFill>
                  <a:srgbClr val="FFFFFF"/>
                </a:solidFill>
                <a:latin typeface="Funnel Display Medium" pitchFamily="34" charset="0"/>
                <a:ea typeface="Funnel Display Medium" pitchFamily="34" charset="-122"/>
                <a:cs typeface="Funnel Display Medium" pitchFamily="34" charset="-120"/>
              </a:rPr>
              <a:t>1</a:t>
            </a:r>
            <a:endParaRPr lang="en-US" sz="1700" dirty="0"/>
          </a:p>
        </p:txBody>
      </p:sp>
      <p:sp>
        <p:nvSpPr>
          <p:cNvPr id="7" name="Text 4"/>
          <p:cNvSpPr/>
          <p:nvPr/>
        </p:nvSpPr>
        <p:spPr>
          <a:xfrm>
            <a:off x="5205889" y="2639497"/>
            <a:ext cx="4029194" cy="235744"/>
          </a:xfrm>
          <a:prstGeom prst="rect">
            <a:avLst/>
          </a:prstGeom>
          <a:noFill/>
          <a:ln/>
        </p:spPr>
        <p:txBody>
          <a:bodyPr wrap="none" lIns="0" tIns="0" rIns="0" bIns="0" rtlCol="0" anchor="t"/>
          <a:lstStyle/>
          <a:p>
            <a:pPr algn="l" indent="0" marL="0">
              <a:lnSpc>
                <a:spcPts val="1850"/>
              </a:lnSpc>
              <a:buNone/>
            </a:pPr>
            <a:r>
              <a:rPr lang="en-US" sz="1850" dirty="0">
                <a:solidFill>
                  <a:srgbClr val="1E1B1B"/>
                </a:solidFill>
                <a:latin typeface="Funnel Display Medium" pitchFamily="34" charset="0"/>
                <a:ea typeface="Funnel Display Medium" pitchFamily="34" charset="-122"/>
                <a:cs typeface="Funnel Display Medium" pitchFamily="34" charset="-120"/>
              </a:rPr>
              <a:t>Language Modeling — The Decoder</a:t>
            </a:r>
            <a:endParaRPr lang="en-US" sz="1850" dirty="0"/>
          </a:p>
        </p:txBody>
      </p:sp>
      <p:sp>
        <p:nvSpPr>
          <p:cNvPr id="8" name="Text 5"/>
          <p:cNvSpPr/>
          <p:nvPr/>
        </p:nvSpPr>
        <p:spPr>
          <a:xfrm>
            <a:off x="5205889" y="2940487"/>
            <a:ext cx="8717280" cy="598289"/>
          </a:xfrm>
          <a:prstGeom prst="rect">
            <a:avLst/>
          </a:prstGeom>
          <a:noFill/>
          <a:ln/>
        </p:spPr>
        <p:txBody>
          <a:bodyPr wrap="square" lIns="0" tIns="0" rIns="0" bIns="0" rtlCol="0" anchor="t"/>
          <a:lstStyle/>
          <a:p>
            <a:pPr algn="l" indent="0" marL="0">
              <a:lnSpc>
                <a:spcPts val="1550"/>
              </a:lnSpc>
              <a:buNone/>
            </a:pPr>
            <a:r>
              <a:rPr lang="en-US" sz="1200" dirty="0">
                <a:solidFill>
                  <a:srgbClr val="1E1B1B"/>
                </a:solidFill>
                <a:latin typeface="Nobile" pitchFamily="34" charset="0"/>
                <a:ea typeface="Nobile" pitchFamily="34" charset="-122"/>
                <a:cs typeface="Nobile" pitchFamily="34" charset="-120"/>
              </a:rPr>
              <a:t>The final stage converts acoustic representations into coherent text sequences. The decoder applies a language model to predict the most probable word sequence, leveraging n-gram probabilities or neural language models to resolve ambiguities and enforce grammatical structure. Output: human-readable transcription.</a:t>
            </a:r>
            <a:endParaRPr lang="en-US" sz="1200" dirty="0"/>
          </a:p>
        </p:txBody>
      </p:sp>
      <p:sp>
        <p:nvSpPr>
          <p:cNvPr id="9" name="Shape 6"/>
          <p:cNvSpPr/>
          <p:nvPr/>
        </p:nvSpPr>
        <p:spPr>
          <a:xfrm>
            <a:off x="5088017" y="3805833"/>
            <a:ext cx="8953024" cy="11430"/>
          </a:xfrm>
          <a:prstGeom prst="roundRect">
            <a:avLst>
              <a:gd name="adj" fmla="val 577515"/>
            </a:avLst>
          </a:prstGeom>
          <a:solidFill>
            <a:srgbClr val="2794F5"/>
          </a:solidFill>
          <a:ln/>
        </p:spPr>
      </p:sp>
      <p:pic>
        <p:nvPicPr>
          <p:cNvPr id="10" name="Image 1" descr="preencoded.png">    </p:cNvPr>
          <p:cNvPicPr>
            <a:picLocks noChangeAspect="1"/>
          </p:cNvPicPr>
          <p:nvPr/>
        </p:nvPicPr>
        <p:blipFill>
          <a:blip r:embed="rId2"/>
          <a:stretch>
            <a:fillRect/>
          </a:stretch>
        </p:blipFill>
        <p:spPr>
          <a:xfrm>
            <a:off x="1700093" y="3835003"/>
            <a:ext cx="4464963" cy="1413034"/>
          </a:xfrm>
          <a:prstGeom prst="rect">
            <a:avLst/>
          </a:prstGeom>
        </p:spPr>
      </p:pic>
      <p:sp>
        <p:nvSpPr>
          <p:cNvPr id="11" name="Text 7"/>
          <p:cNvSpPr/>
          <p:nvPr/>
        </p:nvSpPr>
        <p:spPr>
          <a:xfrm>
            <a:off x="3822025" y="4431030"/>
            <a:ext cx="220980" cy="220980"/>
          </a:xfrm>
          <a:prstGeom prst="rect">
            <a:avLst/>
          </a:prstGeom>
          <a:noFill/>
          <a:ln/>
        </p:spPr>
        <p:txBody>
          <a:bodyPr wrap="none" lIns="0" tIns="0" rIns="0" bIns="0" rtlCol="0" anchor="t"/>
          <a:lstStyle/>
          <a:p>
            <a:pPr algn="ctr" indent="0" marL="0">
              <a:lnSpc>
                <a:spcPts val="2200"/>
              </a:lnSpc>
              <a:buNone/>
            </a:pPr>
            <a:r>
              <a:rPr lang="en-US" sz="1700" dirty="0">
                <a:solidFill>
                  <a:srgbClr val="000000"/>
                </a:solidFill>
                <a:latin typeface="Funnel Display Medium" pitchFamily="34" charset="0"/>
                <a:ea typeface="Funnel Display Medium" pitchFamily="34" charset="-122"/>
                <a:cs typeface="Funnel Display Medium" pitchFamily="34" charset="-120"/>
              </a:rPr>
              <a:t>2</a:t>
            </a:r>
            <a:endParaRPr lang="en-US" sz="1700" dirty="0"/>
          </a:p>
        </p:txBody>
      </p:sp>
      <p:sp>
        <p:nvSpPr>
          <p:cNvPr id="12" name="Text 8"/>
          <p:cNvSpPr/>
          <p:nvPr/>
        </p:nvSpPr>
        <p:spPr>
          <a:xfrm>
            <a:off x="6322219" y="4091821"/>
            <a:ext cx="3854053" cy="235744"/>
          </a:xfrm>
          <a:prstGeom prst="rect">
            <a:avLst/>
          </a:prstGeom>
          <a:noFill/>
          <a:ln/>
        </p:spPr>
        <p:txBody>
          <a:bodyPr wrap="none" lIns="0" tIns="0" rIns="0" bIns="0" rtlCol="0" anchor="t"/>
          <a:lstStyle/>
          <a:p>
            <a:pPr algn="l" indent="0" marL="0">
              <a:lnSpc>
                <a:spcPts val="1850"/>
              </a:lnSpc>
              <a:buNone/>
            </a:pPr>
            <a:r>
              <a:rPr lang="en-US" sz="1850" dirty="0">
                <a:solidFill>
                  <a:srgbClr val="1E1B1B"/>
                </a:solidFill>
                <a:latin typeface="Funnel Display Medium" pitchFamily="34" charset="0"/>
                <a:ea typeface="Funnel Display Medium" pitchFamily="34" charset="-122"/>
                <a:cs typeface="Funnel Display Medium" pitchFamily="34" charset="-120"/>
              </a:rPr>
              <a:t>Acoustic Modeling — The Encoder</a:t>
            </a:r>
            <a:endParaRPr lang="en-US" sz="1850" dirty="0"/>
          </a:p>
        </p:txBody>
      </p:sp>
      <p:sp>
        <p:nvSpPr>
          <p:cNvPr id="13" name="Text 9"/>
          <p:cNvSpPr/>
          <p:nvPr/>
        </p:nvSpPr>
        <p:spPr>
          <a:xfrm>
            <a:off x="6322219" y="4392811"/>
            <a:ext cx="7600950" cy="598289"/>
          </a:xfrm>
          <a:prstGeom prst="rect">
            <a:avLst/>
          </a:prstGeom>
          <a:noFill/>
          <a:ln/>
        </p:spPr>
        <p:txBody>
          <a:bodyPr wrap="square" lIns="0" tIns="0" rIns="0" bIns="0" rtlCol="0" anchor="t"/>
          <a:lstStyle/>
          <a:p>
            <a:pPr algn="l" indent="0" marL="0">
              <a:lnSpc>
                <a:spcPts val="1550"/>
              </a:lnSpc>
              <a:buNone/>
            </a:pPr>
            <a:r>
              <a:rPr lang="en-US" sz="1200" dirty="0">
                <a:solidFill>
                  <a:srgbClr val="1E1B1B"/>
                </a:solidFill>
                <a:latin typeface="Nobile" pitchFamily="34" charset="0"/>
                <a:ea typeface="Nobile" pitchFamily="34" charset="-122"/>
                <a:cs typeface="Nobile" pitchFamily="34" charset="-120"/>
              </a:rPr>
              <a:t>The encoder maps extracted features to phoneme or subword representations. Modern architectures use Transformers, CNNs, or hybrid Conformer blocks to capture both local acoustic patterns and long-range temporal dependencies in the speech signal with high fidelity.</a:t>
            </a:r>
            <a:endParaRPr lang="en-US" sz="1200" dirty="0"/>
          </a:p>
        </p:txBody>
      </p:sp>
      <p:sp>
        <p:nvSpPr>
          <p:cNvPr id="14" name="Shape 10"/>
          <p:cNvSpPr/>
          <p:nvPr/>
        </p:nvSpPr>
        <p:spPr>
          <a:xfrm>
            <a:off x="6204347" y="5258157"/>
            <a:ext cx="7836694" cy="11430"/>
          </a:xfrm>
          <a:prstGeom prst="roundRect">
            <a:avLst>
              <a:gd name="adj" fmla="val 577515"/>
            </a:avLst>
          </a:prstGeom>
          <a:solidFill>
            <a:srgbClr val="FDD35D"/>
          </a:solidFill>
          <a:ln/>
        </p:spPr>
      </p:sp>
      <p:pic>
        <p:nvPicPr>
          <p:cNvPr id="15" name="Image 2" descr="preencoded.png">    </p:cNvPr>
          <p:cNvPicPr>
            <a:picLocks noChangeAspect="1"/>
          </p:cNvPicPr>
          <p:nvPr/>
        </p:nvPicPr>
        <p:blipFill>
          <a:blip r:embed="rId3"/>
          <a:stretch>
            <a:fillRect/>
          </a:stretch>
        </p:blipFill>
        <p:spPr>
          <a:xfrm>
            <a:off x="583883" y="5287328"/>
            <a:ext cx="6697385" cy="1413034"/>
          </a:xfrm>
          <a:prstGeom prst="rect">
            <a:avLst/>
          </a:prstGeom>
        </p:spPr>
      </p:pic>
      <p:sp>
        <p:nvSpPr>
          <p:cNvPr id="16" name="Text 11"/>
          <p:cNvSpPr/>
          <p:nvPr/>
        </p:nvSpPr>
        <p:spPr>
          <a:xfrm>
            <a:off x="3822025" y="5883354"/>
            <a:ext cx="220980" cy="220980"/>
          </a:xfrm>
          <a:prstGeom prst="rect">
            <a:avLst/>
          </a:prstGeom>
          <a:noFill/>
          <a:ln/>
        </p:spPr>
        <p:txBody>
          <a:bodyPr wrap="none" lIns="0" tIns="0" rIns="0" bIns="0" rtlCol="0" anchor="t"/>
          <a:lstStyle/>
          <a:p>
            <a:pPr algn="ctr" indent="0" marL="0">
              <a:lnSpc>
                <a:spcPts val="2200"/>
              </a:lnSpc>
              <a:buNone/>
            </a:pPr>
            <a:r>
              <a:rPr lang="en-US" sz="1700" dirty="0">
                <a:solidFill>
                  <a:srgbClr val="000000"/>
                </a:solidFill>
                <a:latin typeface="Funnel Display Medium" pitchFamily="34" charset="0"/>
                <a:ea typeface="Funnel Display Medium" pitchFamily="34" charset="-122"/>
                <a:cs typeface="Funnel Display Medium" pitchFamily="34" charset="-120"/>
              </a:rPr>
              <a:t>3</a:t>
            </a:r>
            <a:endParaRPr lang="en-US" sz="1700" dirty="0"/>
          </a:p>
        </p:txBody>
      </p:sp>
      <p:sp>
        <p:nvSpPr>
          <p:cNvPr id="17" name="Text 12"/>
          <p:cNvSpPr/>
          <p:nvPr/>
        </p:nvSpPr>
        <p:spPr>
          <a:xfrm>
            <a:off x="7438430" y="5444490"/>
            <a:ext cx="4030623" cy="235744"/>
          </a:xfrm>
          <a:prstGeom prst="rect">
            <a:avLst/>
          </a:prstGeom>
          <a:noFill/>
          <a:ln/>
        </p:spPr>
        <p:txBody>
          <a:bodyPr wrap="none" lIns="0" tIns="0" rIns="0" bIns="0" rtlCol="0" anchor="t"/>
          <a:lstStyle/>
          <a:p>
            <a:pPr algn="l" indent="0" marL="0">
              <a:lnSpc>
                <a:spcPts val="1850"/>
              </a:lnSpc>
              <a:buNone/>
            </a:pPr>
            <a:r>
              <a:rPr lang="en-US" sz="1850" dirty="0">
                <a:solidFill>
                  <a:srgbClr val="1E1B1B"/>
                </a:solidFill>
                <a:latin typeface="Funnel Display Medium" pitchFamily="34" charset="0"/>
                <a:ea typeface="Funnel Display Medium" pitchFamily="34" charset="-122"/>
                <a:cs typeface="Funnel Display Medium" pitchFamily="34" charset="-120"/>
              </a:rPr>
              <a:t>Feature Extraction — Spectrograms</a:t>
            </a:r>
            <a:endParaRPr lang="en-US" sz="1850" dirty="0"/>
          </a:p>
        </p:txBody>
      </p:sp>
      <p:sp>
        <p:nvSpPr>
          <p:cNvPr id="18" name="Text 13"/>
          <p:cNvSpPr/>
          <p:nvPr/>
        </p:nvSpPr>
        <p:spPr>
          <a:xfrm>
            <a:off x="7438430" y="5745480"/>
            <a:ext cx="6484739" cy="797719"/>
          </a:xfrm>
          <a:prstGeom prst="rect">
            <a:avLst/>
          </a:prstGeom>
          <a:noFill/>
          <a:ln/>
        </p:spPr>
        <p:txBody>
          <a:bodyPr wrap="square" lIns="0" tIns="0" rIns="0" bIns="0" rtlCol="0" anchor="t"/>
          <a:lstStyle/>
          <a:p>
            <a:pPr algn="l" indent="0" marL="0">
              <a:lnSpc>
                <a:spcPts val="1550"/>
              </a:lnSpc>
              <a:buNone/>
            </a:pPr>
            <a:r>
              <a:rPr lang="en-US" sz="1200" dirty="0">
                <a:solidFill>
                  <a:srgbClr val="1E1B1B"/>
                </a:solidFill>
                <a:latin typeface="Nobile" pitchFamily="34" charset="0"/>
                <a:ea typeface="Nobile" pitchFamily="34" charset="-122"/>
                <a:cs typeface="Nobile" pitchFamily="34" charset="-120"/>
              </a:rPr>
              <a:t>Raw audio waveforms are transformed into log-Mel spectrograms or MFCCs (Mel-Frequency Cepstral Coefficients). This step converts time-domain signals into a 2D frequency-time representation, capturing the acoustic characteristics the encoder needs to learn from effectively.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74489" y="1162407"/>
            <a:ext cx="874514" cy="329327"/>
          </a:xfrm>
          <a:prstGeom prst="roundRect">
            <a:avLst>
              <a:gd name="adj" fmla="val 19665"/>
            </a:avLst>
          </a:prstGeom>
          <a:solidFill>
            <a:srgbClr val="007853"/>
          </a:solidFill>
          <a:ln/>
        </p:spPr>
      </p:sp>
      <p:sp>
        <p:nvSpPr>
          <p:cNvPr id="3" name="Text 1"/>
          <p:cNvSpPr/>
          <p:nvPr/>
        </p:nvSpPr>
        <p:spPr>
          <a:xfrm>
            <a:off x="790099" y="1220153"/>
            <a:ext cx="643295" cy="213836"/>
          </a:xfrm>
          <a:prstGeom prst="rect">
            <a:avLst/>
          </a:prstGeom>
          <a:noFill/>
          <a:ln/>
        </p:spPr>
        <p:txBody>
          <a:bodyPr wrap="none" lIns="0" tIns="0" rIns="0" bIns="0" rtlCol="0" anchor="t"/>
          <a:lstStyle/>
          <a:p>
            <a:pPr algn="l" indent="0" marL="0">
              <a:lnSpc>
                <a:spcPts val="1650"/>
              </a:lnSpc>
              <a:buNone/>
            </a:pPr>
            <a:r>
              <a:rPr lang="en-US" sz="1200" dirty="0">
                <a:solidFill>
                  <a:srgbClr val="FFFFFF"/>
                </a:solidFill>
                <a:latin typeface="Nobile" pitchFamily="34" charset="0"/>
                <a:ea typeface="Nobile" pitchFamily="34" charset="-122"/>
                <a:cs typeface="Nobile" pitchFamily="34" charset="-120"/>
              </a:rPr>
              <a:t>MODEL 1</a:t>
            </a:r>
            <a:endParaRPr lang="en-US" sz="1200" dirty="0"/>
          </a:p>
        </p:txBody>
      </p:sp>
      <p:sp>
        <p:nvSpPr>
          <p:cNvPr id="4" name="Text 2"/>
          <p:cNvSpPr/>
          <p:nvPr/>
        </p:nvSpPr>
        <p:spPr>
          <a:xfrm>
            <a:off x="674489" y="1557218"/>
            <a:ext cx="4865489" cy="481846"/>
          </a:xfrm>
          <a:prstGeom prst="rect">
            <a:avLst/>
          </a:prstGeom>
          <a:noFill/>
          <a:ln/>
        </p:spPr>
        <p:txBody>
          <a:bodyPr wrap="none" lIns="0" tIns="0" rIns="0" bIns="0" rtlCol="0" anchor="t"/>
          <a:lstStyle/>
          <a:p>
            <a:pPr algn="l" indent="0" marL="0">
              <a:lnSpc>
                <a:spcPts val="3750"/>
              </a:lnSpc>
              <a:buNone/>
            </a:pPr>
            <a:r>
              <a:rPr lang="en-US" sz="3750" dirty="0">
                <a:solidFill>
                  <a:srgbClr val="2C0306"/>
                </a:solidFill>
                <a:latin typeface="Funnel Display Medium" pitchFamily="34" charset="0"/>
                <a:ea typeface="Funnel Display Medium" pitchFamily="34" charset="-122"/>
                <a:cs typeface="Funnel Display Medium" pitchFamily="34" charset="-120"/>
              </a:rPr>
              <a:t>Indic Conformer ASR</a:t>
            </a:r>
            <a:endParaRPr lang="en-US" sz="3750" dirty="0"/>
          </a:p>
        </p:txBody>
      </p:sp>
      <p:sp>
        <p:nvSpPr>
          <p:cNvPr id="5" name="Text 3"/>
          <p:cNvSpPr/>
          <p:nvPr/>
        </p:nvSpPr>
        <p:spPr>
          <a:xfrm>
            <a:off x="674489" y="2284690"/>
            <a:ext cx="13281422" cy="802243"/>
          </a:xfrm>
          <a:prstGeom prst="rect">
            <a:avLst/>
          </a:prstGeom>
          <a:noFill/>
          <a:ln/>
        </p:spPr>
        <p:txBody>
          <a:bodyPr wrap="square" lIns="0" tIns="0" rIns="0" bIns="0" rtlCol="0" anchor="t"/>
          <a:lstStyle/>
          <a:p>
            <a:pPr algn="l" indent="0" marL="0">
              <a:lnSpc>
                <a:spcPts val="2100"/>
              </a:lnSpc>
              <a:buNone/>
            </a:pPr>
            <a:r>
              <a:rPr lang="en-US" sz="1500" dirty="0">
                <a:solidFill>
                  <a:srgbClr val="1E1B1B"/>
                </a:solidFill>
                <a:latin typeface="Nobile" pitchFamily="34" charset="0"/>
                <a:ea typeface="Nobile" pitchFamily="34" charset="-122"/>
                <a:cs typeface="Nobile" pitchFamily="34" charset="-120"/>
              </a:rPr>
              <a:t>Developed within the </a:t>
            </a:r>
            <a:pPr algn="l" indent="0" marL="0">
              <a:lnSpc>
                <a:spcPts val="2100"/>
              </a:lnSpc>
              <a:buNone/>
            </a:pPr>
            <a:r>
              <a:rPr lang="en-US" sz="1500" b="1" dirty="0">
                <a:solidFill>
                  <a:srgbClr val="1E1B1B"/>
                </a:solidFill>
                <a:latin typeface="Nobile" pitchFamily="34" charset="0"/>
                <a:ea typeface="Nobile" pitchFamily="34" charset="-122"/>
                <a:cs typeface="Nobile" pitchFamily="34" charset="-120"/>
              </a:rPr>
              <a:t>AI4Bharat ecosystem</a:t>
            </a:r>
            <a:pPr algn="l" indent="0" marL="0">
              <a:lnSpc>
                <a:spcPts val="2100"/>
              </a:lnSpc>
              <a:buNone/>
            </a:pPr>
            <a:r>
              <a:rPr lang="en-US" sz="1500" dirty="0">
                <a:solidFill>
                  <a:srgbClr val="1E1B1B"/>
                </a:solidFill>
                <a:latin typeface="Nobile" pitchFamily="34" charset="0"/>
                <a:ea typeface="Nobile" pitchFamily="34" charset="-122"/>
                <a:cs typeface="Nobile" pitchFamily="34" charset="-120"/>
              </a:rPr>
              <a:t>, the Indic Conformer ASR is purpose-built for Indian languages. It fuses the power of Transformers and Convolutional Neural Networks in a </a:t>
            </a:r>
            <a:pPr algn="l" indent="0" marL="0">
              <a:lnSpc>
                <a:spcPts val="2100"/>
              </a:lnSpc>
              <a:buNone/>
            </a:pPr>
            <a:r>
              <a:rPr lang="en-US" sz="1500" b="1" dirty="0">
                <a:solidFill>
                  <a:srgbClr val="1E1B1B"/>
                </a:solidFill>
                <a:latin typeface="Nobile" pitchFamily="34" charset="0"/>
                <a:ea typeface="Nobile" pitchFamily="34" charset="-122"/>
                <a:cs typeface="Nobile" pitchFamily="34" charset="-120"/>
              </a:rPr>
              <a:t>Conformer architecture</a:t>
            </a:r>
            <a:pPr algn="l" indent="0" marL="0">
              <a:lnSpc>
                <a:spcPts val="2100"/>
              </a:lnSpc>
              <a:buNone/>
            </a:pPr>
            <a:r>
              <a:rPr lang="en-US" sz="1500" dirty="0">
                <a:solidFill>
                  <a:srgbClr val="1E1B1B"/>
                </a:solidFill>
                <a:latin typeface="Nobile" pitchFamily="34" charset="0"/>
                <a:ea typeface="Nobile" pitchFamily="34" charset="-122"/>
                <a:cs typeface="Nobile" pitchFamily="34" charset="-120"/>
              </a:rPr>
              <a:t> — capturing both global context and local acoustic features simultaneously, making it ideal for the phonetic richness of Indic scripts.</a:t>
            </a:r>
            <a:endParaRPr lang="en-US" sz="1500" dirty="0"/>
          </a:p>
        </p:txBody>
      </p:sp>
      <p:sp>
        <p:nvSpPr>
          <p:cNvPr id="6" name="Shape 4"/>
          <p:cNvSpPr/>
          <p:nvPr/>
        </p:nvSpPr>
        <p:spPr>
          <a:xfrm>
            <a:off x="674489" y="3271123"/>
            <a:ext cx="4317921" cy="3795951"/>
          </a:xfrm>
          <a:prstGeom prst="roundRect">
            <a:avLst>
              <a:gd name="adj" fmla="val 2133"/>
            </a:avLst>
          </a:prstGeom>
          <a:solidFill>
            <a:srgbClr val="FAFAFA"/>
          </a:solidFill>
          <a:ln w="22860">
            <a:solidFill>
              <a:srgbClr val="2794F5"/>
            </a:solidFill>
            <a:prstDash val="solid"/>
          </a:ln>
        </p:spPr>
      </p:sp>
      <p:sp>
        <p:nvSpPr>
          <p:cNvPr id="7" name="Shape 5"/>
          <p:cNvSpPr/>
          <p:nvPr/>
        </p:nvSpPr>
        <p:spPr>
          <a:xfrm>
            <a:off x="697349" y="3293983"/>
            <a:ext cx="4272201" cy="578168"/>
          </a:xfrm>
          <a:prstGeom prst="roundRect">
            <a:avLst>
              <a:gd name="adj" fmla="val 9257"/>
            </a:avLst>
          </a:prstGeom>
          <a:solidFill>
            <a:srgbClr val="2794F5"/>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688908" y="3438525"/>
            <a:ext cx="289084" cy="289084"/>
          </a:xfrm>
          <a:prstGeom prst="rect">
            <a:avLst/>
          </a:prstGeom>
        </p:spPr>
      </p:pic>
      <p:sp>
        <p:nvSpPr>
          <p:cNvPr id="9" name="Text 6"/>
          <p:cNvSpPr/>
          <p:nvPr/>
        </p:nvSpPr>
        <p:spPr>
          <a:xfrm>
            <a:off x="889992" y="4035862"/>
            <a:ext cx="3300174" cy="289084"/>
          </a:xfrm>
          <a:prstGeom prst="rect">
            <a:avLst/>
          </a:prstGeom>
          <a:noFill/>
          <a:ln/>
        </p:spPr>
        <p:txBody>
          <a:bodyPr wrap="none" lIns="0" tIns="0" rIns="0" bIns="0" rtlCol="0" anchor="t"/>
          <a:lstStyle/>
          <a:p>
            <a:pPr algn="l" indent="0" marL="0">
              <a:lnSpc>
                <a:spcPts val="2250"/>
              </a:lnSpc>
              <a:buNone/>
            </a:pPr>
            <a:r>
              <a:rPr lang="en-US" sz="2250" dirty="0">
                <a:solidFill>
                  <a:srgbClr val="1E1B1B"/>
                </a:solidFill>
                <a:latin typeface="Funnel Display Medium" pitchFamily="34" charset="0"/>
                <a:ea typeface="Funnel Display Medium" pitchFamily="34" charset="-122"/>
                <a:cs typeface="Funnel Display Medium" pitchFamily="34" charset="-120"/>
              </a:rPr>
              <a:t>Conformer Architecture</a:t>
            </a:r>
            <a:endParaRPr lang="en-US" sz="2250" dirty="0"/>
          </a:p>
        </p:txBody>
      </p:sp>
      <p:sp>
        <p:nvSpPr>
          <p:cNvPr id="10" name="Text 7"/>
          <p:cNvSpPr/>
          <p:nvPr/>
        </p:nvSpPr>
        <p:spPr>
          <a:xfrm>
            <a:off x="889992" y="4423172"/>
            <a:ext cx="3886914" cy="2139315"/>
          </a:xfrm>
          <a:prstGeom prst="rect">
            <a:avLst/>
          </a:prstGeom>
          <a:noFill/>
          <a:ln/>
        </p:spPr>
        <p:txBody>
          <a:bodyPr wrap="square" lIns="0" tIns="0" rIns="0" bIns="0" rtlCol="0" anchor="t"/>
          <a:lstStyle/>
          <a:p>
            <a:pPr algn="l" indent="0" marL="0">
              <a:lnSpc>
                <a:spcPts val="2100"/>
              </a:lnSpc>
              <a:buNone/>
            </a:pPr>
            <a:r>
              <a:rPr lang="en-US" sz="1500" dirty="0">
                <a:solidFill>
                  <a:srgbClr val="1E1B1B"/>
                </a:solidFill>
                <a:latin typeface="Nobile" pitchFamily="34" charset="0"/>
                <a:ea typeface="Nobile" pitchFamily="34" charset="-122"/>
                <a:cs typeface="Nobile" pitchFamily="34" charset="-120"/>
              </a:rPr>
              <a:t>Combines Multi-Head Self-Attention (Transformer) for long-range dependencies with Depthwise Separable Convolutions (CNN) for local feature extraction. This hybrid design is uniquely effective at modeling the prosodic and phonemic complexity of Indian languages like Hindi, Tamil, and Bengali.</a:t>
            </a:r>
            <a:endParaRPr lang="en-US" sz="1500" dirty="0"/>
          </a:p>
        </p:txBody>
      </p:sp>
      <p:sp>
        <p:nvSpPr>
          <p:cNvPr id="11" name="Shape 8"/>
          <p:cNvSpPr/>
          <p:nvPr/>
        </p:nvSpPr>
        <p:spPr>
          <a:xfrm>
            <a:off x="5156121" y="3271123"/>
            <a:ext cx="4318040" cy="3795951"/>
          </a:xfrm>
          <a:prstGeom prst="roundRect">
            <a:avLst>
              <a:gd name="adj" fmla="val 2133"/>
            </a:avLst>
          </a:prstGeom>
          <a:solidFill>
            <a:srgbClr val="FAFAFA"/>
          </a:solidFill>
          <a:ln w="22860">
            <a:solidFill>
              <a:srgbClr val="FDD35D"/>
            </a:solidFill>
            <a:prstDash val="solid"/>
          </a:ln>
        </p:spPr>
      </p:sp>
      <p:sp>
        <p:nvSpPr>
          <p:cNvPr id="12" name="Shape 9"/>
          <p:cNvSpPr/>
          <p:nvPr/>
        </p:nvSpPr>
        <p:spPr>
          <a:xfrm>
            <a:off x="5178981" y="3293983"/>
            <a:ext cx="4272320" cy="578168"/>
          </a:xfrm>
          <a:prstGeom prst="roundRect">
            <a:avLst>
              <a:gd name="adj" fmla="val 9257"/>
            </a:avLst>
          </a:prstGeom>
          <a:solidFill>
            <a:srgbClr val="FDD35D"/>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70539" y="3438525"/>
            <a:ext cx="289084" cy="289084"/>
          </a:xfrm>
          <a:prstGeom prst="rect">
            <a:avLst/>
          </a:prstGeom>
        </p:spPr>
      </p:pic>
      <p:sp>
        <p:nvSpPr>
          <p:cNvPr id="14" name="Text 10"/>
          <p:cNvSpPr/>
          <p:nvPr/>
        </p:nvSpPr>
        <p:spPr>
          <a:xfrm>
            <a:off x="5371624" y="4035862"/>
            <a:ext cx="3887033" cy="578168"/>
          </a:xfrm>
          <a:prstGeom prst="rect">
            <a:avLst/>
          </a:prstGeom>
          <a:noFill/>
          <a:ln/>
        </p:spPr>
        <p:txBody>
          <a:bodyPr wrap="square" lIns="0" tIns="0" rIns="0" bIns="0" rtlCol="0" anchor="t"/>
          <a:lstStyle/>
          <a:p>
            <a:pPr algn="l" indent="0" marL="0">
              <a:lnSpc>
                <a:spcPts val="2250"/>
              </a:lnSpc>
              <a:buNone/>
            </a:pPr>
            <a:r>
              <a:rPr lang="en-US" sz="2250" dirty="0">
                <a:solidFill>
                  <a:srgbClr val="1E1B1B"/>
                </a:solidFill>
                <a:latin typeface="Funnel Display Medium" pitchFamily="34" charset="0"/>
                <a:ea typeface="Funnel Display Medium" pitchFamily="34" charset="-122"/>
                <a:cs typeface="Funnel Display Medium" pitchFamily="34" charset="-120"/>
              </a:rPr>
              <a:t>Real-Time Mobile Deployment</a:t>
            </a:r>
            <a:endParaRPr lang="en-US" sz="2250" dirty="0"/>
          </a:p>
        </p:txBody>
      </p:sp>
      <p:sp>
        <p:nvSpPr>
          <p:cNvPr id="15" name="Text 11"/>
          <p:cNvSpPr/>
          <p:nvPr/>
        </p:nvSpPr>
        <p:spPr>
          <a:xfrm>
            <a:off x="5371624" y="4712256"/>
            <a:ext cx="3887033" cy="2139315"/>
          </a:xfrm>
          <a:prstGeom prst="rect">
            <a:avLst/>
          </a:prstGeom>
          <a:noFill/>
          <a:ln/>
        </p:spPr>
        <p:txBody>
          <a:bodyPr wrap="square" lIns="0" tIns="0" rIns="0" bIns="0" rtlCol="0" anchor="t"/>
          <a:lstStyle/>
          <a:p>
            <a:pPr algn="l" indent="0" marL="0">
              <a:lnSpc>
                <a:spcPts val="2100"/>
              </a:lnSpc>
              <a:buNone/>
            </a:pPr>
            <a:r>
              <a:rPr lang="en-US" sz="1500" dirty="0">
                <a:solidFill>
                  <a:srgbClr val="1E1B1B"/>
                </a:solidFill>
                <a:latin typeface="Nobile" pitchFamily="34" charset="0"/>
                <a:ea typeface="Nobile" pitchFamily="34" charset="-122"/>
                <a:cs typeface="Nobile" pitchFamily="34" charset="-120"/>
              </a:rPr>
              <a:t>Optimized for on-device inference, the Indic Conformer is designed for low-latency, real-time ASR on mobile hardware. Its compact footprint makes it a strong candidate for deploying multilingual speech recognition natively on smartphones across India's diverse linguistic landscape.</a:t>
            </a:r>
            <a:endParaRPr lang="en-US" sz="1500" dirty="0"/>
          </a:p>
        </p:txBody>
      </p:sp>
      <p:sp>
        <p:nvSpPr>
          <p:cNvPr id="16" name="Shape 12"/>
          <p:cNvSpPr/>
          <p:nvPr/>
        </p:nvSpPr>
        <p:spPr>
          <a:xfrm>
            <a:off x="9637871" y="3271123"/>
            <a:ext cx="4318040" cy="3795951"/>
          </a:xfrm>
          <a:prstGeom prst="roundRect">
            <a:avLst>
              <a:gd name="adj" fmla="val 2133"/>
            </a:avLst>
          </a:prstGeom>
          <a:solidFill>
            <a:srgbClr val="FAFAFA"/>
          </a:solidFill>
          <a:ln w="22860">
            <a:solidFill>
              <a:srgbClr val="FF8225"/>
            </a:solidFill>
            <a:prstDash val="solid"/>
          </a:ln>
        </p:spPr>
      </p:sp>
      <p:sp>
        <p:nvSpPr>
          <p:cNvPr id="17" name="Shape 13"/>
          <p:cNvSpPr/>
          <p:nvPr/>
        </p:nvSpPr>
        <p:spPr>
          <a:xfrm>
            <a:off x="9660731" y="3293983"/>
            <a:ext cx="4272320" cy="578168"/>
          </a:xfrm>
          <a:prstGeom prst="roundRect">
            <a:avLst>
              <a:gd name="adj" fmla="val 9257"/>
            </a:avLst>
          </a:prstGeom>
          <a:solidFill>
            <a:srgbClr val="FF8225"/>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52290" y="3438525"/>
            <a:ext cx="289084" cy="289084"/>
          </a:xfrm>
          <a:prstGeom prst="rect">
            <a:avLst/>
          </a:prstGeom>
        </p:spPr>
      </p:pic>
      <p:sp>
        <p:nvSpPr>
          <p:cNvPr id="19" name="Text 14"/>
          <p:cNvSpPr/>
          <p:nvPr/>
        </p:nvSpPr>
        <p:spPr>
          <a:xfrm>
            <a:off x="9853374" y="4035862"/>
            <a:ext cx="2933105" cy="289084"/>
          </a:xfrm>
          <a:prstGeom prst="rect">
            <a:avLst/>
          </a:prstGeom>
          <a:noFill/>
          <a:ln/>
        </p:spPr>
        <p:txBody>
          <a:bodyPr wrap="none" lIns="0" tIns="0" rIns="0" bIns="0" rtlCol="0" anchor="t"/>
          <a:lstStyle/>
          <a:p>
            <a:pPr algn="l" indent="0" marL="0">
              <a:lnSpc>
                <a:spcPts val="2250"/>
              </a:lnSpc>
              <a:buNone/>
            </a:pPr>
            <a:r>
              <a:rPr lang="en-US" sz="2250" dirty="0">
                <a:solidFill>
                  <a:srgbClr val="1E1B1B"/>
                </a:solidFill>
                <a:latin typeface="Funnel Display Medium" pitchFamily="34" charset="0"/>
                <a:ea typeface="Funnel Display Medium" pitchFamily="34" charset="-122"/>
                <a:cs typeface="Funnel Display Medium" pitchFamily="34" charset="-120"/>
              </a:rPr>
              <a:t>AI4Bharat Ecosystem</a:t>
            </a:r>
            <a:endParaRPr lang="en-US" sz="2250" dirty="0"/>
          </a:p>
        </p:txBody>
      </p:sp>
      <p:sp>
        <p:nvSpPr>
          <p:cNvPr id="20" name="Text 15"/>
          <p:cNvSpPr/>
          <p:nvPr/>
        </p:nvSpPr>
        <p:spPr>
          <a:xfrm>
            <a:off x="9853374" y="4423172"/>
            <a:ext cx="3887033" cy="2139315"/>
          </a:xfrm>
          <a:prstGeom prst="rect">
            <a:avLst/>
          </a:prstGeom>
          <a:noFill/>
          <a:ln/>
        </p:spPr>
        <p:txBody>
          <a:bodyPr wrap="square" lIns="0" tIns="0" rIns="0" bIns="0" rtlCol="0" anchor="t"/>
          <a:lstStyle/>
          <a:p>
            <a:pPr algn="l" indent="0" marL="0">
              <a:lnSpc>
                <a:spcPts val="2100"/>
              </a:lnSpc>
              <a:buNone/>
            </a:pPr>
            <a:r>
              <a:rPr lang="en-US" sz="1500" dirty="0">
                <a:solidFill>
                  <a:srgbClr val="1E1B1B"/>
                </a:solidFill>
                <a:latin typeface="Nobile" pitchFamily="34" charset="0"/>
                <a:ea typeface="Nobile" pitchFamily="34" charset="-122"/>
                <a:cs typeface="Nobile" pitchFamily="34" charset="-120"/>
              </a:rPr>
              <a:t>Part of a broader research initiative to build open-source NLP and speech tools for all 22 scheduled Indian languages. The Conformer ASR benefits from AI4Bharat's curated multilingual corpora, enabling robust supervised training across linguistically diverse and low-resource language families.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49486" y="784860"/>
            <a:ext cx="868085" cy="313611"/>
          </a:xfrm>
          <a:prstGeom prst="roundRect">
            <a:avLst>
              <a:gd name="adj" fmla="val 19884"/>
            </a:avLst>
          </a:prstGeom>
          <a:solidFill>
            <a:srgbClr val="007853"/>
          </a:solidFill>
          <a:ln/>
        </p:spPr>
      </p:sp>
      <p:sp>
        <p:nvSpPr>
          <p:cNvPr id="3" name="Text 1"/>
          <p:cNvSpPr/>
          <p:nvPr/>
        </p:nvSpPr>
        <p:spPr>
          <a:xfrm>
            <a:off x="760809" y="840462"/>
            <a:ext cx="645438" cy="202406"/>
          </a:xfrm>
          <a:prstGeom prst="rect">
            <a:avLst/>
          </a:prstGeom>
          <a:noFill/>
          <a:ln/>
        </p:spPr>
        <p:txBody>
          <a:bodyPr wrap="none" lIns="0" tIns="0" rIns="0" bIns="0" rtlCol="0" anchor="t"/>
          <a:lstStyle/>
          <a:p>
            <a:pPr algn="l" indent="0" marL="0">
              <a:lnSpc>
                <a:spcPts val="1550"/>
              </a:lnSpc>
              <a:buNone/>
            </a:pPr>
            <a:r>
              <a:rPr lang="en-US" sz="1150" dirty="0">
                <a:solidFill>
                  <a:srgbClr val="FFFFFF"/>
                </a:solidFill>
                <a:latin typeface="Nobile" pitchFamily="34" charset="0"/>
                <a:ea typeface="Nobile" pitchFamily="34" charset="-122"/>
                <a:cs typeface="Nobile" pitchFamily="34" charset="-120"/>
              </a:rPr>
              <a:t>MODEL 2</a:t>
            </a:r>
            <a:endParaRPr lang="en-US" sz="1150" dirty="0"/>
          </a:p>
        </p:txBody>
      </p:sp>
      <p:sp>
        <p:nvSpPr>
          <p:cNvPr id="4" name="Text 2"/>
          <p:cNvSpPr/>
          <p:nvPr/>
        </p:nvSpPr>
        <p:spPr>
          <a:xfrm>
            <a:off x="649486" y="1159193"/>
            <a:ext cx="4639628" cy="463987"/>
          </a:xfrm>
          <a:prstGeom prst="rect">
            <a:avLst/>
          </a:prstGeom>
          <a:noFill/>
          <a:ln/>
        </p:spPr>
        <p:txBody>
          <a:bodyPr wrap="none" lIns="0" tIns="0" rIns="0" bIns="0" rtlCol="0" anchor="t"/>
          <a:lstStyle/>
          <a:p>
            <a:pPr algn="l" indent="0" marL="0">
              <a:lnSpc>
                <a:spcPts val="3650"/>
              </a:lnSpc>
              <a:buNone/>
            </a:pPr>
            <a:r>
              <a:rPr lang="en-US" sz="3650" dirty="0">
                <a:solidFill>
                  <a:srgbClr val="2C0306"/>
                </a:solidFill>
                <a:latin typeface="Funnel Display Medium" pitchFamily="34" charset="0"/>
                <a:ea typeface="Funnel Display Medium" pitchFamily="34" charset="-122"/>
                <a:cs typeface="Funnel Display Medium" pitchFamily="34" charset="-120"/>
              </a:rPr>
              <a:t>Whisper V3 Turbo</a:t>
            </a:r>
            <a:endParaRPr lang="en-US" sz="3650" dirty="0"/>
          </a:p>
        </p:txBody>
      </p:sp>
      <p:sp>
        <p:nvSpPr>
          <p:cNvPr id="5" name="Shape 3"/>
          <p:cNvSpPr/>
          <p:nvPr/>
        </p:nvSpPr>
        <p:spPr>
          <a:xfrm>
            <a:off x="649486" y="2021562"/>
            <a:ext cx="6852880" cy="2066211"/>
          </a:xfrm>
          <a:prstGeom prst="roundRect">
            <a:avLst>
              <a:gd name="adj" fmla="val 3772"/>
            </a:avLst>
          </a:prstGeom>
          <a:solidFill>
            <a:srgbClr val="2794F5"/>
          </a:solidFill>
          <a:ln/>
        </p:spPr>
      </p:sp>
      <p:sp>
        <p:nvSpPr>
          <p:cNvPr id="6" name="Text 4"/>
          <p:cNvSpPr/>
          <p:nvPr/>
        </p:nvSpPr>
        <p:spPr>
          <a:xfrm>
            <a:off x="834985" y="2207062"/>
            <a:ext cx="4013835" cy="278368"/>
          </a:xfrm>
          <a:prstGeom prst="rect">
            <a:avLst/>
          </a:prstGeom>
          <a:noFill/>
          <a:ln/>
        </p:spPr>
        <p:txBody>
          <a:bodyPr wrap="none" lIns="0" tIns="0" rIns="0" bIns="0" rtlCol="0" anchor="t"/>
          <a:lstStyle/>
          <a:p>
            <a:pPr algn="l" indent="0" marL="0">
              <a:lnSpc>
                <a:spcPts val="2150"/>
              </a:lnSpc>
              <a:buNone/>
            </a:pPr>
            <a:r>
              <a:rPr lang="en-US" sz="2150" dirty="0">
                <a:solidFill>
                  <a:srgbClr val="FFFFFF"/>
                </a:solidFill>
                <a:latin typeface="Funnel Display Medium" pitchFamily="34" charset="0"/>
                <a:ea typeface="Funnel Display Medium" pitchFamily="34" charset="-122"/>
                <a:cs typeface="Funnel Display Medium" pitchFamily="34" charset="-120"/>
              </a:rPr>
              <a:t>Speed-Optimized Architecture</a:t>
            </a:r>
            <a:endParaRPr lang="en-US" sz="2150" dirty="0"/>
          </a:p>
        </p:txBody>
      </p:sp>
      <p:sp>
        <p:nvSpPr>
          <p:cNvPr id="7" name="Text 5"/>
          <p:cNvSpPr/>
          <p:nvPr/>
        </p:nvSpPr>
        <p:spPr>
          <a:xfrm>
            <a:off x="834985" y="2637234"/>
            <a:ext cx="6481882" cy="1265039"/>
          </a:xfrm>
          <a:prstGeom prst="rect">
            <a:avLst/>
          </a:prstGeom>
          <a:noFill/>
          <a:ln/>
        </p:spPr>
        <p:txBody>
          <a:bodyPr wrap="square" lIns="0" tIns="0" rIns="0" bIns="0" rtlCol="0" anchor="t"/>
          <a:lstStyle/>
          <a:p>
            <a:pPr algn="l" indent="0" marL="0">
              <a:lnSpc>
                <a:spcPts val="1950"/>
              </a:lnSpc>
              <a:buNone/>
            </a:pPr>
            <a:r>
              <a:rPr lang="en-US" sz="1450" dirty="0">
                <a:solidFill>
                  <a:srgbClr val="FFFFFF"/>
                </a:solidFill>
                <a:latin typeface="Nobile" pitchFamily="34" charset="0"/>
                <a:ea typeface="Nobile" pitchFamily="34" charset="-122"/>
                <a:cs typeface="Nobile" pitchFamily="34" charset="-120"/>
              </a:rPr>
              <a:t>OpenAI's Whisper V3 Turbo is derived from Whisper Large-V3 but radically streamlined for speed. The key engineering decision: reducing decoder layers from </a:t>
            </a:r>
            <a:pPr algn="l" indent="0" marL="0">
              <a:lnSpc>
                <a:spcPts val="1950"/>
              </a:lnSpc>
              <a:buNone/>
            </a:pPr>
            <a:r>
              <a:rPr lang="en-US" sz="1450" b="1" dirty="0">
                <a:solidFill>
                  <a:srgbClr val="FFFFFF"/>
                </a:solidFill>
                <a:latin typeface="Nobile" pitchFamily="34" charset="0"/>
                <a:ea typeface="Nobile" pitchFamily="34" charset="-122"/>
                <a:cs typeface="Nobile" pitchFamily="34" charset="-120"/>
              </a:rPr>
              <a:t>32 down to just 4</a:t>
            </a:r>
            <a:pPr algn="l" indent="0" marL="0">
              <a:lnSpc>
                <a:spcPts val="1950"/>
              </a:lnSpc>
              <a:buNone/>
            </a:pPr>
            <a:r>
              <a:rPr lang="en-US" sz="1450" dirty="0">
                <a:solidFill>
                  <a:srgbClr val="FFFFFF"/>
                </a:solidFill>
                <a:latin typeface="Nobile" pitchFamily="34" charset="0"/>
                <a:ea typeface="Nobile" pitchFamily="34" charset="-122"/>
                <a:cs typeface="Nobile" pitchFamily="34" charset="-120"/>
              </a:rPr>
              <a:t>. This single architectural change yields an </a:t>
            </a:r>
            <a:pPr algn="l" indent="0" marL="0">
              <a:lnSpc>
                <a:spcPts val="1950"/>
              </a:lnSpc>
              <a:buNone/>
            </a:pPr>
            <a:r>
              <a:rPr lang="en-US" sz="1450" b="1" dirty="0">
                <a:solidFill>
                  <a:srgbClr val="FFFFFF"/>
                </a:solidFill>
                <a:latin typeface="Nobile" pitchFamily="34" charset="0"/>
                <a:ea typeface="Nobile" pitchFamily="34" charset="-122"/>
                <a:cs typeface="Nobile" pitchFamily="34" charset="-120"/>
              </a:rPr>
              <a:t>8x speed gain</a:t>
            </a:r>
            <a:pPr algn="l" indent="0" marL="0">
              <a:lnSpc>
                <a:spcPts val="1950"/>
              </a:lnSpc>
              <a:buNone/>
            </a:pPr>
            <a:r>
              <a:rPr lang="en-US" sz="1450" dirty="0">
                <a:solidFill>
                  <a:srgbClr val="FFFFFF"/>
                </a:solidFill>
                <a:latin typeface="Nobile" pitchFamily="34" charset="0"/>
                <a:ea typeface="Nobile" pitchFamily="34" charset="-122"/>
                <a:cs typeface="Nobile" pitchFamily="34" charset="-120"/>
              </a:rPr>
              <a:t> over the full model while preserving the encoder's rich multilingual representations.</a:t>
            </a:r>
            <a:endParaRPr lang="en-US" sz="1450" dirty="0"/>
          </a:p>
        </p:txBody>
      </p:sp>
      <p:sp>
        <p:nvSpPr>
          <p:cNvPr id="8" name="Shape 6"/>
          <p:cNvSpPr/>
          <p:nvPr/>
        </p:nvSpPr>
        <p:spPr>
          <a:xfrm>
            <a:off x="649486" y="4239578"/>
            <a:ext cx="6852880" cy="2066211"/>
          </a:xfrm>
          <a:prstGeom prst="roundRect">
            <a:avLst>
              <a:gd name="adj" fmla="val 3772"/>
            </a:avLst>
          </a:prstGeom>
          <a:solidFill>
            <a:srgbClr val="FDD35D"/>
          </a:solidFill>
          <a:ln/>
        </p:spPr>
      </p:sp>
      <p:sp>
        <p:nvSpPr>
          <p:cNvPr id="9" name="Text 7"/>
          <p:cNvSpPr/>
          <p:nvPr/>
        </p:nvSpPr>
        <p:spPr>
          <a:xfrm>
            <a:off x="834985" y="4425077"/>
            <a:ext cx="3282672" cy="278368"/>
          </a:xfrm>
          <a:prstGeom prst="rect">
            <a:avLst/>
          </a:prstGeom>
          <a:noFill/>
          <a:ln/>
        </p:spPr>
        <p:txBody>
          <a:bodyPr wrap="none" lIns="0" tIns="0" rIns="0" bIns="0" rtlCol="0" anchor="t"/>
          <a:lstStyle/>
          <a:p>
            <a:pPr algn="l" indent="0" marL="0">
              <a:lnSpc>
                <a:spcPts val="2150"/>
              </a:lnSpc>
              <a:buNone/>
            </a:pPr>
            <a:r>
              <a:rPr lang="en-US" sz="2150" dirty="0">
                <a:solidFill>
                  <a:srgbClr val="000000"/>
                </a:solidFill>
                <a:latin typeface="Funnel Display Medium" pitchFamily="34" charset="0"/>
                <a:ea typeface="Funnel Display Medium" pitchFamily="34" charset="-122"/>
                <a:cs typeface="Funnel Display Medium" pitchFamily="34" charset="-120"/>
              </a:rPr>
              <a:t>Zero-Shot Generalization</a:t>
            </a:r>
            <a:endParaRPr lang="en-US" sz="2150" dirty="0"/>
          </a:p>
        </p:txBody>
      </p:sp>
      <p:sp>
        <p:nvSpPr>
          <p:cNvPr id="10" name="Text 8"/>
          <p:cNvSpPr/>
          <p:nvPr/>
        </p:nvSpPr>
        <p:spPr>
          <a:xfrm>
            <a:off x="834985" y="4855250"/>
            <a:ext cx="6481882" cy="1265039"/>
          </a:xfrm>
          <a:prstGeom prst="rect">
            <a:avLst/>
          </a:prstGeom>
          <a:noFill/>
          <a:ln/>
        </p:spPr>
        <p:txBody>
          <a:bodyPr wrap="square" lIns="0" tIns="0" rIns="0" bIns="0" rtlCol="0" anchor="t"/>
          <a:lstStyle/>
          <a:p>
            <a:pPr algn="l" indent="0" marL="0">
              <a:lnSpc>
                <a:spcPts val="1950"/>
              </a:lnSpc>
              <a:buNone/>
            </a:pPr>
            <a:r>
              <a:rPr lang="en-US" sz="1450" dirty="0">
                <a:solidFill>
                  <a:srgbClr val="000000"/>
                </a:solidFill>
                <a:latin typeface="Nobile" pitchFamily="34" charset="0"/>
                <a:ea typeface="Nobile" pitchFamily="34" charset="-122"/>
                <a:cs typeface="Nobile" pitchFamily="34" charset="-120"/>
              </a:rPr>
              <a:t>Despite the reduced decoder depth, Whisper V3 Turbo maintains strong </a:t>
            </a:r>
            <a:pPr algn="l" indent="0" marL="0">
              <a:lnSpc>
                <a:spcPts val="1950"/>
              </a:lnSpc>
              <a:buNone/>
            </a:pPr>
            <a:r>
              <a:rPr lang="en-US" sz="1450" b="1" dirty="0">
                <a:solidFill>
                  <a:srgbClr val="000000"/>
                </a:solidFill>
                <a:latin typeface="Nobile" pitchFamily="34" charset="0"/>
                <a:ea typeface="Nobile" pitchFamily="34" charset="-122"/>
                <a:cs typeface="Nobile" pitchFamily="34" charset="-120"/>
              </a:rPr>
              <a:t>zero-shot accuracy</a:t>
            </a:r>
            <a:pPr algn="l" indent="0" marL="0">
              <a:lnSpc>
                <a:spcPts val="1950"/>
              </a:lnSpc>
              <a:buNone/>
            </a:pPr>
            <a:r>
              <a:rPr lang="en-US" sz="1450" dirty="0">
                <a:solidFill>
                  <a:srgbClr val="000000"/>
                </a:solidFill>
                <a:latin typeface="Nobile" pitchFamily="34" charset="0"/>
                <a:ea typeface="Nobile" pitchFamily="34" charset="-122"/>
                <a:cs typeface="Nobile" pitchFamily="34" charset="-120"/>
              </a:rPr>
              <a:t> across 99+ languages. Its encoder, trained on 680,000 hours of weakly supervised multilingual audio, captures robust acoustic features that compensate for the leaner decoder stack at inference time.</a:t>
            </a:r>
            <a:endParaRPr lang="en-US" sz="1450" dirty="0"/>
          </a:p>
        </p:txBody>
      </p:sp>
      <p:sp>
        <p:nvSpPr>
          <p:cNvPr id="11" name="Text 9"/>
          <p:cNvSpPr/>
          <p:nvPr/>
        </p:nvSpPr>
        <p:spPr>
          <a:xfrm>
            <a:off x="7962662" y="2114312"/>
            <a:ext cx="6025753" cy="612338"/>
          </a:xfrm>
          <a:prstGeom prst="rect">
            <a:avLst/>
          </a:prstGeom>
          <a:noFill/>
          <a:ln/>
        </p:spPr>
        <p:txBody>
          <a:bodyPr wrap="none" lIns="0" tIns="0" rIns="0" bIns="0" rtlCol="0" anchor="t"/>
          <a:lstStyle/>
          <a:p>
            <a:pPr algn="ctr" indent="0" marL="0">
              <a:lnSpc>
                <a:spcPts val="4800"/>
              </a:lnSpc>
              <a:buNone/>
            </a:pPr>
            <a:r>
              <a:rPr lang="en-US" sz="4800" dirty="0">
                <a:solidFill>
                  <a:srgbClr val="1E1B1B"/>
                </a:solidFill>
                <a:latin typeface="Funnel Display Medium" pitchFamily="34" charset="0"/>
                <a:ea typeface="Funnel Display Medium" pitchFamily="34" charset="-122"/>
                <a:cs typeface="Funnel Display Medium" pitchFamily="34" charset="-120"/>
              </a:rPr>
              <a:t>8x</a:t>
            </a:r>
            <a:endParaRPr lang="en-US" sz="4800" dirty="0"/>
          </a:p>
        </p:txBody>
      </p:sp>
      <p:sp>
        <p:nvSpPr>
          <p:cNvPr id="12" name="Text 10"/>
          <p:cNvSpPr/>
          <p:nvPr/>
        </p:nvSpPr>
        <p:spPr>
          <a:xfrm>
            <a:off x="9815632" y="2933224"/>
            <a:ext cx="2319814" cy="231934"/>
          </a:xfrm>
          <a:prstGeom prst="rect">
            <a:avLst/>
          </a:prstGeom>
          <a:noFill/>
          <a:ln/>
        </p:spPr>
        <p:txBody>
          <a:bodyPr wrap="none" lIns="0" tIns="0" rIns="0" bIns="0" rtlCol="0" anchor="t"/>
          <a:lstStyle/>
          <a:p>
            <a:pPr algn="ctr" indent="0" marL="0">
              <a:lnSpc>
                <a:spcPts val="1800"/>
              </a:lnSpc>
              <a:buNone/>
            </a:pPr>
            <a:r>
              <a:rPr lang="en-US" sz="1800" dirty="0">
                <a:solidFill>
                  <a:srgbClr val="1E1B1B"/>
                </a:solidFill>
                <a:latin typeface="Funnel Display Medium" pitchFamily="34" charset="0"/>
                <a:ea typeface="Funnel Display Medium" pitchFamily="34" charset="-122"/>
                <a:cs typeface="Funnel Display Medium" pitchFamily="34" charset="-120"/>
              </a:rPr>
              <a:t>Speed Gain</a:t>
            </a:r>
            <a:endParaRPr lang="en-US" sz="1800" dirty="0"/>
          </a:p>
        </p:txBody>
      </p:sp>
      <p:sp>
        <p:nvSpPr>
          <p:cNvPr id="13" name="Text 11"/>
          <p:cNvSpPr/>
          <p:nvPr/>
        </p:nvSpPr>
        <p:spPr>
          <a:xfrm>
            <a:off x="7962662" y="3316962"/>
            <a:ext cx="6025753" cy="253008"/>
          </a:xfrm>
          <a:prstGeom prst="rect">
            <a:avLst/>
          </a:prstGeom>
          <a:noFill/>
          <a:ln/>
        </p:spPr>
        <p:txBody>
          <a:bodyPr wrap="none" lIns="0" tIns="0" rIns="0" bIns="0" rtlCol="0" anchor="t"/>
          <a:lstStyle/>
          <a:p>
            <a:pPr algn="ctr" indent="0" marL="0">
              <a:lnSpc>
                <a:spcPts val="1950"/>
              </a:lnSpc>
              <a:buNone/>
            </a:pPr>
            <a:r>
              <a:rPr lang="en-US" sz="1450" dirty="0">
                <a:solidFill>
                  <a:srgbClr val="1E1B1B"/>
                </a:solidFill>
                <a:latin typeface="Nobile" pitchFamily="34" charset="0"/>
                <a:ea typeface="Nobile" pitchFamily="34" charset="-122"/>
                <a:cs typeface="Nobile" pitchFamily="34" charset="-120"/>
              </a:rPr>
              <a:t>vs. Whisper Large-V3 full model</a:t>
            </a:r>
            <a:endParaRPr lang="en-US" sz="1450" dirty="0"/>
          </a:p>
        </p:txBody>
      </p:sp>
      <p:sp>
        <p:nvSpPr>
          <p:cNvPr id="14" name="Text 12"/>
          <p:cNvSpPr/>
          <p:nvPr/>
        </p:nvSpPr>
        <p:spPr>
          <a:xfrm>
            <a:off x="7962662" y="3966329"/>
            <a:ext cx="6025753" cy="612338"/>
          </a:xfrm>
          <a:prstGeom prst="rect">
            <a:avLst/>
          </a:prstGeom>
          <a:noFill/>
          <a:ln/>
        </p:spPr>
        <p:txBody>
          <a:bodyPr wrap="none" lIns="0" tIns="0" rIns="0" bIns="0" rtlCol="0" anchor="t"/>
          <a:lstStyle/>
          <a:p>
            <a:pPr algn="ctr" indent="0" marL="0">
              <a:lnSpc>
                <a:spcPts val="4800"/>
              </a:lnSpc>
              <a:buNone/>
            </a:pPr>
            <a:r>
              <a:rPr lang="en-US" sz="4800" dirty="0">
                <a:solidFill>
                  <a:srgbClr val="1E1B1B"/>
                </a:solidFill>
                <a:latin typeface="Funnel Display Medium" pitchFamily="34" charset="0"/>
                <a:ea typeface="Funnel Display Medium" pitchFamily="34" charset="-122"/>
                <a:cs typeface="Funnel Display Medium" pitchFamily="34" charset="-120"/>
              </a:rPr>
              <a:t>4</a:t>
            </a:r>
            <a:endParaRPr lang="en-US" sz="4800" dirty="0"/>
          </a:p>
        </p:txBody>
      </p:sp>
      <p:sp>
        <p:nvSpPr>
          <p:cNvPr id="15" name="Text 13"/>
          <p:cNvSpPr/>
          <p:nvPr/>
        </p:nvSpPr>
        <p:spPr>
          <a:xfrm>
            <a:off x="9815632" y="4785241"/>
            <a:ext cx="2319814" cy="231934"/>
          </a:xfrm>
          <a:prstGeom prst="rect">
            <a:avLst/>
          </a:prstGeom>
          <a:noFill/>
          <a:ln/>
        </p:spPr>
        <p:txBody>
          <a:bodyPr wrap="none" lIns="0" tIns="0" rIns="0" bIns="0" rtlCol="0" anchor="t"/>
          <a:lstStyle/>
          <a:p>
            <a:pPr algn="ctr" indent="0" marL="0">
              <a:lnSpc>
                <a:spcPts val="1800"/>
              </a:lnSpc>
              <a:buNone/>
            </a:pPr>
            <a:r>
              <a:rPr lang="en-US" sz="1800" dirty="0">
                <a:solidFill>
                  <a:srgbClr val="1E1B1B"/>
                </a:solidFill>
                <a:latin typeface="Funnel Display Medium" pitchFamily="34" charset="0"/>
                <a:ea typeface="Funnel Display Medium" pitchFamily="34" charset="-122"/>
                <a:cs typeface="Funnel Display Medium" pitchFamily="34" charset="-120"/>
              </a:rPr>
              <a:t>Decoder Layers</a:t>
            </a:r>
            <a:endParaRPr lang="en-US" sz="1800" dirty="0"/>
          </a:p>
        </p:txBody>
      </p:sp>
      <p:sp>
        <p:nvSpPr>
          <p:cNvPr id="16" name="Text 14"/>
          <p:cNvSpPr/>
          <p:nvPr/>
        </p:nvSpPr>
        <p:spPr>
          <a:xfrm>
            <a:off x="7962662" y="5168979"/>
            <a:ext cx="6025753" cy="253008"/>
          </a:xfrm>
          <a:prstGeom prst="rect">
            <a:avLst/>
          </a:prstGeom>
          <a:noFill/>
          <a:ln/>
        </p:spPr>
        <p:txBody>
          <a:bodyPr wrap="none" lIns="0" tIns="0" rIns="0" bIns="0" rtlCol="0" anchor="t"/>
          <a:lstStyle/>
          <a:p>
            <a:pPr algn="ctr" indent="0" marL="0">
              <a:lnSpc>
                <a:spcPts val="1950"/>
              </a:lnSpc>
              <a:buNone/>
            </a:pPr>
            <a:r>
              <a:rPr lang="en-US" sz="1450" dirty="0">
                <a:solidFill>
                  <a:srgbClr val="1E1B1B"/>
                </a:solidFill>
                <a:latin typeface="Nobile" pitchFamily="34" charset="0"/>
                <a:ea typeface="Nobile" pitchFamily="34" charset="-122"/>
                <a:cs typeface="Nobile" pitchFamily="34" charset="-120"/>
              </a:rPr>
              <a:t>Reduced from 32 in the full model</a:t>
            </a:r>
            <a:endParaRPr lang="en-US" sz="1450" dirty="0"/>
          </a:p>
        </p:txBody>
      </p:sp>
      <p:sp>
        <p:nvSpPr>
          <p:cNvPr id="17" name="Text 15"/>
          <p:cNvSpPr/>
          <p:nvPr/>
        </p:nvSpPr>
        <p:spPr>
          <a:xfrm>
            <a:off x="7962662" y="5818346"/>
            <a:ext cx="6025753" cy="612338"/>
          </a:xfrm>
          <a:prstGeom prst="rect">
            <a:avLst/>
          </a:prstGeom>
          <a:noFill/>
          <a:ln/>
        </p:spPr>
        <p:txBody>
          <a:bodyPr wrap="none" lIns="0" tIns="0" rIns="0" bIns="0" rtlCol="0" anchor="t"/>
          <a:lstStyle/>
          <a:p>
            <a:pPr algn="ctr" indent="0" marL="0">
              <a:lnSpc>
                <a:spcPts val="4800"/>
              </a:lnSpc>
              <a:buNone/>
            </a:pPr>
            <a:r>
              <a:rPr lang="en-US" sz="4800" dirty="0">
                <a:solidFill>
                  <a:srgbClr val="1E1B1B"/>
                </a:solidFill>
                <a:latin typeface="Funnel Display Medium" pitchFamily="34" charset="0"/>
                <a:ea typeface="Funnel Display Medium" pitchFamily="34" charset="-122"/>
                <a:cs typeface="Funnel Display Medium" pitchFamily="34" charset="-120"/>
              </a:rPr>
              <a:t>99+</a:t>
            </a:r>
            <a:endParaRPr lang="en-US" sz="4800" dirty="0"/>
          </a:p>
        </p:txBody>
      </p:sp>
      <p:sp>
        <p:nvSpPr>
          <p:cNvPr id="18" name="Text 16"/>
          <p:cNvSpPr/>
          <p:nvPr/>
        </p:nvSpPr>
        <p:spPr>
          <a:xfrm>
            <a:off x="9815632" y="6637258"/>
            <a:ext cx="2319814" cy="231934"/>
          </a:xfrm>
          <a:prstGeom prst="rect">
            <a:avLst/>
          </a:prstGeom>
          <a:noFill/>
          <a:ln/>
        </p:spPr>
        <p:txBody>
          <a:bodyPr wrap="none" lIns="0" tIns="0" rIns="0" bIns="0" rtlCol="0" anchor="t"/>
          <a:lstStyle/>
          <a:p>
            <a:pPr algn="ctr" indent="0" marL="0">
              <a:lnSpc>
                <a:spcPts val="1800"/>
              </a:lnSpc>
              <a:buNone/>
            </a:pPr>
            <a:r>
              <a:rPr lang="en-US" sz="1800" dirty="0">
                <a:solidFill>
                  <a:srgbClr val="1E1B1B"/>
                </a:solidFill>
                <a:latin typeface="Funnel Display Medium" pitchFamily="34" charset="0"/>
                <a:ea typeface="Funnel Display Medium" pitchFamily="34" charset="-122"/>
                <a:cs typeface="Funnel Display Medium" pitchFamily="34" charset="-120"/>
              </a:rPr>
              <a:t>Languages</a:t>
            </a:r>
            <a:endParaRPr lang="en-US" sz="1800" dirty="0"/>
          </a:p>
        </p:txBody>
      </p:sp>
      <p:sp>
        <p:nvSpPr>
          <p:cNvPr id="19" name="Text 17"/>
          <p:cNvSpPr/>
          <p:nvPr/>
        </p:nvSpPr>
        <p:spPr>
          <a:xfrm>
            <a:off x="7962662" y="7020997"/>
            <a:ext cx="6025753" cy="253008"/>
          </a:xfrm>
          <a:prstGeom prst="rect">
            <a:avLst/>
          </a:prstGeom>
          <a:noFill/>
          <a:ln/>
        </p:spPr>
        <p:txBody>
          <a:bodyPr wrap="none" lIns="0" tIns="0" rIns="0" bIns="0" rtlCol="0" anchor="t"/>
          <a:lstStyle/>
          <a:p>
            <a:pPr algn="ctr" indent="0" marL="0">
              <a:lnSpc>
                <a:spcPts val="1950"/>
              </a:lnSpc>
              <a:buNone/>
            </a:pPr>
            <a:r>
              <a:rPr lang="en-US" sz="1450" dirty="0">
                <a:solidFill>
                  <a:srgbClr val="1E1B1B"/>
                </a:solidFill>
                <a:latin typeface="Nobile" pitchFamily="34" charset="0"/>
                <a:ea typeface="Nobile" pitchFamily="34" charset="-122"/>
                <a:cs typeface="Nobile" pitchFamily="34" charset="-120"/>
              </a:rPr>
              <a:t>Zero-shot multilingual coverage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6962" y="1831658"/>
            <a:ext cx="9238178" cy="326469"/>
          </a:xfrm>
          <a:prstGeom prst="rect">
            <a:avLst/>
          </a:prstGeom>
          <a:noFill/>
          <a:ln/>
        </p:spPr>
        <p:txBody>
          <a:bodyPr wrap="none" lIns="0" tIns="0" rIns="0" bIns="0" rtlCol="0" anchor="t"/>
          <a:lstStyle/>
          <a:p>
            <a:pPr algn="l" indent="0" marL="0">
              <a:lnSpc>
                <a:spcPts val="2550"/>
              </a:lnSpc>
              <a:buNone/>
            </a:pPr>
            <a:r>
              <a:rPr lang="en-US" sz="2550" dirty="0">
                <a:solidFill>
                  <a:srgbClr val="2C0306"/>
                </a:solidFill>
                <a:latin typeface="Funnel Display Medium" pitchFamily="34" charset="0"/>
                <a:ea typeface="Funnel Display Medium" pitchFamily="34" charset="-122"/>
                <a:cs typeface="Funnel Display Medium" pitchFamily="34" charset="-120"/>
              </a:rPr>
              <a:t>IndicWav2Vec: Self-Supervised Learning for Indic Phonetics</a:t>
            </a:r>
            <a:endParaRPr lang="en-US" sz="2550" dirty="0"/>
          </a:p>
        </p:txBody>
      </p:sp>
      <p:sp>
        <p:nvSpPr>
          <p:cNvPr id="3" name="Text 1"/>
          <p:cNvSpPr/>
          <p:nvPr/>
        </p:nvSpPr>
        <p:spPr>
          <a:xfrm>
            <a:off x="456962" y="2270879"/>
            <a:ext cx="13716476" cy="308610"/>
          </a:xfrm>
          <a:prstGeom prst="rect">
            <a:avLst/>
          </a:prstGeom>
          <a:noFill/>
          <a:ln/>
        </p:spPr>
        <p:txBody>
          <a:bodyPr wrap="square" lIns="0" tIns="0" rIns="0" bIns="0" rtlCol="0" anchor="t"/>
          <a:lstStyle/>
          <a:p>
            <a:pPr algn="l" indent="0" marL="0">
              <a:lnSpc>
                <a:spcPts val="1200"/>
              </a:lnSpc>
              <a:buNone/>
            </a:pPr>
            <a:r>
              <a:rPr lang="en-US" sz="1000" dirty="0">
                <a:solidFill>
                  <a:srgbClr val="1E1B1B"/>
                </a:solidFill>
                <a:latin typeface="Nobile" pitchFamily="34" charset="0"/>
                <a:ea typeface="Nobile" pitchFamily="34" charset="-122"/>
                <a:cs typeface="Nobile" pitchFamily="34" charset="-120"/>
              </a:rPr>
              <a:t>IndicWav2Vec applies a </a:t>
            </a:r>
            <a:pPr algn="l" indent="0" marL="0">
              <a:lnSpc>
                <a:spcPts val="1200"/>
              </a:lnSpc>
              <a:buNone/>
            </a:pPr>
            <a:r>
              <a:rPr lang="en-US" sz="1000" b="1" dirty="0">
                <a:solidFill>
                  <a:srgbClr val="1E1B1B"/>
                </a:solidFill>
                <a:latin typeface="Nobile" pitchFamily="34" charset="0"/>
                <a:ea typeface="Nobile" pitchFamily="34" charset="-122"/>
                <a:cs typeface="Nobile" pitchFamily="34" charset="-120"/>
              </a:rPr>
              <a:t>Self-Supervised Learning (SSL)</a:t>
            </a:r>
            <a:pPr algn="l" indent="0" marL="0">
              <a:lnSpc>
                <a:spcPts val="1200"/>
              </a:lnSpc>
              <a:buNone/>
            </a:pPr>
            <a:r>
              <a:rPr lang="en-US" sz="1000" dirty="0">
                <a:solidFill>
                  <a:srgbClr val="1E1B1B"/>
                </a:solidFill>
                <a:latin typeface="Nobile" pitchFamily="34" charset="0"/>
                <a:ea typeface="Nobile" pitchFamily="34" charset="-122"/>
                <a:cs typeface="Nobile" pitchFamily="34" charset="-120"/>
              </a:rPr>
              <a:t> paradigm to Indian language ASR. By pre-training on large volumes of </a:t>
            </a:r>
            <a:pPr algn="l" indent="0" marL="0">
              <a:lnSpc>
                <a:spcPts val="1200"/>
              </a:lnSpc>
              <a:buNone/>
            </a:pPr>
            <a:r>
              <a:rPr lang="en-US" sz="1000" b="1" dirty="0">
                <a:solidFill>
                  <a:srgbClr val="1E1B1B"/>
                </a:solidFill>
                <a:latin typeface="Nobile" pitchFamily="34" charset="0"/>
                <a:ea typeface="Nobile" pitchFamily="34" charset="-122"/>
                <a:cs typeface="Nobile" pitchFamily="34" charset="-120"/>
              </a:rPr>
              <a:t>unlabeled audio</a:t>
            </a:r>
            <a:pPr algn="l" indent="0" marL="0">
              <a:lnSpc>
                <a:spcPts val="1200"/>
              </a:lnSpc>
              <a:buNone/>
            </a:pPr>
            <a:r>
              <a:rPr lang="en-US" sz="1000" dirty="0">
                <a:solidFill>
                  <a:srgbClr val="1E1B1B"/>
                </a:solidFill>
                <a:latin typeface="Nobile" pitchFamily="34" charset="0"/>
                <a:ea typeface="Nobile" pitchFamily="34" charset="-122"/>
                <a:cs typeface="Nobile" pitchFamily="34" charset="-120"/>
              </a:rPr>
              <a:t> from 40+ Indian languages, it learns deeply nuanced phonetic representations without requiring expensive labeled transcription data — a critical advantage in low-resource linguistic settings.</a:t>
            </a:r>
            <a:endParaRPr lang="en-US" sz="1000" dirty="0"/>
          </a:p>
        </p:txBody>
      </p:sp>
      <p:sp>
        <p:nvSpPr>
          <p:cNvPr id="4" name="Shape 2"/>
          <p:cNvSpPr/>
          <p:nvPr/>
        </p:nvSpPr>
        <p:spPr>
          <a:xfrm>
            <a:off x="456962" y="2664023"/>
            <a:ext cx="13716476" cy="1194554"/>
          </a:xfrm>
          <a:prstGeom prst="roundRect">
            <a:avLst>
              <a:gd name="adj" fmla="val 4591"/>
            </a:avLst>
          </a:prstGeom>
          <a:solidFill>
            <a:srgbClr val="FAFAFA"/>
          </a:solidFill>
          <a:ln w="15240">
            <a:solidFill>
              <a:srgbClr val="2794F5"/>
            </a:solidFill>
            <a:prstDash val="solid"/>
          </a:ln>
        </p:spPr>
      </p:sp>
      <p:sp>
        <p:nvSpPr>
          <p:cNvPr id="5" name="Shape 3"/>
          <p:cNvSpPr/>
          <p:nvPr/>
        </p:nvSpPr>
        <p:spPr>
          <a:xfrm>
            <a:off x="472202" y="2679263"/>
            <a:ext cx="522327" cy="1164074"/>
          </a:xfrm>
          <a:prstGeom prst="roundRect">
            <a:avLst>
              <a:gd name="adj" fmla="val 6999"/>
            </a:avLst>
          </a:prstGeom>
          <a:solidFill>
            <a:srgbClr val="2794F5"/>
          </a:solidFill>
          <a:ln/>
        </p:spPr>
      </p:sp>
      <p:sp>
        <p:nvSpPr>
          <p:cNvPr id="6" name="Text 4"/>
          <p:cNvSpPr/>
          <p:nvPr/>
        </p:nvSpPr>
        <p:spPr>
          <a:xfrm>
            <a:off x="635437" y="3163372"/>
            <a:ext cx="195858" cy="195858"/>
          </a:xfrm>
          <a:prstGeom prst="rect">
            <a:avLst/>
          </a:prstGeom>
          <a:noFill/>
          <a:ln/>
        </p:spPr>
        <p:txBody>
          <a:bodyPr wrap="none" lIns="0" tIns="0" rIns="0" bIns="0" rtlCol="0" anchor="t"/>
          <a:lstStyle/>
          <a:p>
            <a:pPr algn="l" indent="0" marL="0">
              <a:lnSpc>
                <a:spcPts val="1500"/>
              </a:lnSpc>
              <a:buNone/>
            </a:pPr>
            <a:r>
              <a:rPr lang="en-US" sz="1500" dirty="0">
                <a:solidFill>
                  <a:srgbClr val="FFFFFF"/>
                </a:solidFill>
                <a:latin typeface="Funnel Display Medium" pitchFamily="34" charset="0"/>
                <a:ea typeface="Funnel Display Medium" pitchFamily="34" charset="-122"/>
                <a:cs typeface="Funnel Display Medium" pitchFamily="34" charset="-120"/>
              </a:rPr>
              <a:t>1</a:t>
            </a:r>
            <a:endParaRPr lang="en-US" sz="1500" dirty="0"/>
          </a:p>
        </p:txBody>
      </p:sp>
      <p:sp>
        <p:nvSpPr>
          <p:cNvPr id="7" name="Text 5"/>
          <p:cNvSpPr/>
          <p:nvPr/>
        </p:nvSpPr>
        <p:spPr>
          <a:xfrm>
            <a:off x="1069658" y="2809756"/>
            <a:ext cx="3165396" cy="195858"/>
          </a:xfrm>
          <a:prstGeom prst="rect">
            <a:avLst/>
          </a:prstGeom>
          <a:noFill/>
          <a:ln/>
        </p:spPr>
        <p:txBody>
          <a:bodyPr wrap="none" lIns="0" tIns="0" rIns="0" bIns="0" rtlCol="0" anchor="t"/>
          <a:lstStyle/>
          <a:p>
            <a:pPr algn="l" indent="0" marL="0">
              <a:lnSpc>
                <a:spcPts val="1500"/>
              </a:lnSpc>
              <a:buNone/>
            </a:pPr>
            <a:r>
              <a:rPr lang="en-US" sz="1500" dirty="0">
                <a:solidFill>
                  <a:srgbClr val="1E1B1B"/>
                </a:solidFill>
                <a:latin typeface="Funnel Display Medium" pitchFamily="34" charset="0"/>
                <a:ea typeface="Funnel Display Medium" pitchFamily="34" charset="-122"/>
                <a:cs typeface="Funnel Display Medium" pitchFamily="34" charset="-120"/>
              </a:rPr>
              <a:t>Self-Supervised Pre-Training (SSL)</a:t>
            </a:r>
            <a:endParaRPr lang="en-US" sz="1500" dirty="0"/>
          </a:p>
        </p:txBody>
      </p:sp>
      <p:sp>
        <p:nvSpPr>
          <p:cNvPr id="8" name="Text 6"/>
          <p:cNvSpPr/>
          <p:nvPr/>
        </p:nvSpPr>
        <p:spPr>
          <a:xfrm>
            <a:off x="1069658" y="3050619"/>
            <a:ext cx="12958048" cy="308610"/>
          </a:xfrm>
          <a:prstGeom prst="rect">
            <a:avLst/>
          </a:prstGeom>
          <a:noFill/>
          <a:ln/>
        </p:spPr>
        <p:txBody>
          <a:bodyPr wrap="square" lIns="0" tIns="0" rIns="0" bIns="0" rtlCol="0" anchor="t"/>
          <a:lstStyle/>
          <a:p>
            <a:pPr algn="l" indent="0" marL="0">
              <a:lnSpc>
                <a:spcPts val="1200"/>
              </a:lnSpc>
              <a:buNone/>
            </a:pPr>
            <a:r>
              <a:rPr lang="en-US" sz="1000" b="1" dirty="0">
                <a:solidFill>
                  <a:srgbClr val="1E1B1B"/>
                </a:solidFill>
                <a:latin typeface="Nobile" pitchFamily="34" charset="0"/>
                <a:ea typeface="Nobile" pitchFamily="34" charset="-122"/>
                <a:cs typeface="Nobile" pitchFamily="34" charset="-120"/>
              </a:rPr>
              <a:t>Contrastive Learning Objective:</a:t>
            </a:r>
            <a:pPr algn="l" indent="0" marL="0">
              <a:lnSpc>
                <a:spcPts val="1200"/>
              </a:lnSpc>
              <a:buNone/>
            </a:pPr>
            <a:r>
              <a:rPr lang="en-US" sz="1000" dirty="0">
                <a:solidFill>
                  <a:srgbClr val="1E1B1B"/>
                </a:solidFill>
                <a:latin typeface="Nobile" pitchFamily="34" charset="0"/>
                <a:ea typeface="Nobile" pitchFamily="34" charset="-122"/>
                <a:cs typeface="Nobile" pitchFamily="34" charset="-120"/>
              </a:rPr>
              <a:t> The model learns by predicting masked segments of its own audio input. No human-labeled transcripts are required during pre-training — the speech signal itself acts as the supervisory signal, enabling learning from raw, unlabeled audio at massive scale.</a:t>
            </a:r>
            <a:endParaRPr lang="en-US" sz="1000" dirty="0"/>
          </a:p>
        </p:txBody>
      </p:sp>
      <p:sp>
        <p:nvSpPr>
          <p:cNvPr id="9" name="Text 7"/>
          <p:cNvSpPr/>
          <p:nvPr/>
        </p:nvSpPr>
        <p:spPr>
          <a:xfrm>
            <a:off x="1069658" y="3404235"/>
            <a:ext cx="12958048" cy="308610"/>
          </a:xfrm>
          <a:prstGeom prst="rect">
            <a:avLst/>
          </a:prstGeom>
          <a:noFill/>
          <a:ln/>
        </p:spPr>
        <p:txBody>
          <a:bodyPr wrap="square" lIns="0" tIns="0" rIns="0" bIns="0" rtlCol="0" anchor="t"/>
          <a:lstStyle/>
          <a:p>
            <a:pPr algn="l" indent="0" marL="0">
              <a:lnSpc>
                <a:spcPts val="1200"/>
              </a:lnSpc>
              <a:buNone/>
            </a:pPr>
            <a:r>
              <a:rPr lang="en-US" sz="1000" b="1" dirty="0">
                <a:solidFill>
                  <a:srgbClr val="1E1B1B"/>
                </a:solidFill>
                <a:latin typeface="Nobile" pitchFamily="34" charset="0"/>
                <a:ea typeface="Nobile" pitchFamily="34" charset="-122"/>
                <a:cs typeface="Nobile" pitchFamily="34" charset="-120"/>
              </a:rPr>
              <a:t>Phonetic Representation:</a:t>
            </a:r>
            <a:pPr algn="l" indent="0" marL="0">
              <a:lnSpc>
                <a:spcPts val="1200"/>
              </a:lnSpc>
              <a:buNone/>
            </a:pPr>
            <a:r>
              <a:rPr lang="en-US" sz="1000" dirty="0">
                <a:solidFill>
                  <a:srgbClr val="1E1B1B"/>
                </a:solidFill>
                <a:latin typeface="Nobile" pitchFamily="34" charset="0"/>
                <a:ea typeface="Nobile" pitchFamily="34" charset="-122"/>
                <a:cs typeface="Nobile" pitchFamily="34" charset="-120"/>
              </a:rPr>
              <a:t> SSL pre-training forces the encoder to capture fine-grained </a:t>
            </a:r>
            <a:pPr algn="l" indent="0" marL="0">
              <a:lnSpc>
                <a:spcPts val="1200"/>
              </a:lnSpc>
              <a:buNone/>
            </a:pPr>
            <a:r>
              <a:rPr lang="en-US" sz="1000" b="1" dirty="0">
                <a:solidFill>
                  <a:srgbClr val="1E1B1B"/>
                </a:solidFill>
                <a:latin typeface="Nobile" pitchFamily="34" charset="0"/>
                <a:ea typeface="Nobile" pitchFamily="34" charset="-122"/>
                <a:cs typeface="Nobile" pitchFamily="34" charset="-120"/>
              </a:rPr>
              <a:t>phonemic nuances</a:t>
            </a:r>
            <a:pPr algn="l" indent="0" marL="0">
              <a:lnSpc>
                <a:spcPts val="1200"/>
              </a:lnSpc>
              <a:buNone/>
            </a:pPr>
            <a:r>
              <a:rPr lang="en-US" sz="1000" dirty="0">
                <a:solidFill>
                  <a:srgbClr val="1E1B1B"/>
                </a:solidFill>
                <a:latin typeface="Nobile" pitchFamily="34" charset="0"/>
                <a:ea typeface="Nobile" pitchFamily="34" charset="-122"/>
                <a:cs typeface="Nobile" pitchFamily="34" charset="-120"/>
              </a:rPr>
              <a:t> — crucial for distinguishing the retroflex, aspirated, and dental consonants that distinguish meaning across Indic scripts like Devanagari and Dravidian alphabets.</a:t>
            </a:r>
            <a:endParaRPr lang="en-US" sz="1000" dirty="0"/>
          </a:p>
        </p:txBody>
      </p:sp>
      <p:sp>
        <p:nvSpPr>
          <p:cNvPr id="10" name="Shape 8"/>
          <p:cNvSpPr/>
          <p:nvPr/>
        </p:nvSpPr>
        <p:spPr>
          <a:xfrm>
            <a:off x="456962" y="3933706"/>
            <a:ext cx="13716476" cy="1194554"/>
          </a:xfrm>
          <a:prstGeom prst="roundRect">
            <a:avLst>
              <a:gd name="adj" fmla="val 4591"/>
            </a:avLst>
          </a:prstGeom>
          <a:solidFill>
            <a:srgbClr val="FAFAFA"/>
          </a:solidFill>
          <a:ln w="15240">
            <a:solidFill>
              <a:srgbClr val="FDD35D"/>
            </a:solidFill>
            <a:prstDash val="solid"/>
          </a:ln>
        </p:spPr>
      </p:sp>
      <p:sp>
        <p:nvSpPr>
          <p:cNvPr id="11" name="Shape 9"/>
          <p:cNvSpPr/>
          <p:nvPr/>
        </p:nvSpPr>
        <p:spPr>
          <a:xfrm>
            <a:off x="472202" y="3948946"/>
            <a:ext cx="522327" cy="1164074"/>
          </a:xfrm>
          <a:prstGeom prst="roundRect">
            <a:avLst>
              <a:gd name="adj" fmla="val 6999"/>
            </a:avLst>
          </a:prstGeom>
          <a:solidFill>
            <a:srgbClr val="FDD35D"/>
          </a:solidFill>
          <a:ln/>
        </p:spPr>
      </p:sp>
      <p:sp>
        <p:nvSpPr>
          <p:cNvPr id="12" name="Text 10"/>
          <p:cNvSpPr/>
          <p:nvPr/>
        </p:nvSpPr>
        <p:spPr>
          <a:xfrm>
            <a:off x="635437" y="4433054"/>
            <a:ext cx="195858" cy="195858"/>
          </a:xfrm>
          <a:prstGeom prst="rect">
            <a:avLst/>
          </a:prstGeom>
          <a:noFill/>
          <a:ln/>
        </p:spPr>
        <p:txBody>
          <a:bodyPr wrap="none" lIns="0" tIns="0" rIns="0" bIns="0" rtlCol="0" anchor="t"/>
          <a:lstStyle/>
          <a:p>
            <a:pPr algn="l" indent="0" marL="0">
              <a:lnSpc>
                <a:spcPts val="1500"/>
              </a:lnSpc>
              <a:buNone/>
            </a:pPr>
            <a:r>
              <a:rPr lang="en-US" sz="1500" dirty="0">
                <a:solidFill>
                  <a:srgbClr val="000000"/>
                </a:solidFill>
                <a:latin typeface="Funnel Display Medium" pitchFamily="34" charset="0"/>
                <a:ea typeface="Funnel Display Medium" pitchFamily="34" charset="-122"/>
                <a:cs typeface="Funnel Display Medium" pitchFamily="34" charset="-120"/>
              </a:rPr>
              <a:t>2</a:t>
            </a:r>
            <a:endParaRPr lang="en-US" sz="1500" dirty="0"/>
          </a:p>
        </p:txBody>
      </p:sp>
      <p:sp>
        <p:nvSpPr>
          <p:cNvPr id="13" name="Text 11"/>
          <p:cNvSpPr/>
          <p:nvPr/>
        </p:nvSpPr>
        <p:spPr>
          <a:xfrm>
            <a:off x="1069658" y="4079438"/>
            <a:ext cx="3829169" cy="195858"/>
          </a:xfrm>
          <a:prstGeom prst="rect">
            <a:avLst/>
          </a:prstGeom>
          <a:noFill/>
          <a:ln/>
        </p:spPr>
        <p:txBody>
          <a:bodyPr wrap="none" lIns="0" tIns="0" rIns="0" bIns="0" rtlCol="0" anchor="t"/>
          <a:lstStyle/>
          <a:p>
            <a:pPr algn="l" indent="0" marL="0">
              <a:lnSpc>
                <a:spcPts val="1500"/>
              </a:lnSpc>
              <a:buNone/>
            </a:pPr>
            <a:r>
              <a:rPr lang="en-US" sz="1500" dirty="0">
                <a:solidFill>
                  <a:srgbClr val="1E1B1B"/>
                </a:solidFill>
                <a:latin typeface="Funnel Display Medium" pitchFamily="34" charset="0"/>
                <a:ea typeface="Funnel Display Medium" pitchFamily="34" charset="-122"/>
                <a:cs typeface="Funnel Display Medium" pitchFamily="34" charset="-120"/>
              </a:rPr>
              <a:t>40+ Indic Languages Pre-Training Corpus</a:t>
            </a:r>
            <a:endParaRPr lang="en-US" sz="1500" dirty="0"/>
          </a:p>
        </p:txBody>
      </p:sp>
      <p:sp>
        <p:nvSpPr>
          <p:cNvPr id="14" name="Text 12"/>
          <p:cNvSpPr/>
          <p:nvPr/>
        </p:nvSpPr>
        <p:spPr>
          <a:xfrm>
            <a:off x="1069658" y="4320302"/>
            <a:ext cx="12958048" cy="308610"/>
          </a:xfrm>
          <a:prstGeom prst="rect">
            <a:avLst/>
          </a:prstGeom>
          <a:noFill/>
          <a:ln/>
        </p:spPr>
        <p:txBody>
          <a:bodyPr wrap="square" lIns="0" tIns="0" rIns="0" bIns="0" rtlCol="0" anchor="t"/>
          <a:lstStyle/>
          <a:p>
            <a:pPr algn="l" indent="0" marL="0">
              <a:lnSpc>
                <a:spcPts val="1200"/>
              </a:lnSpc>
              <a:buNone/>
            </a:pPr>
            <a:r>
              <a:rPr lang="en-US" sz="1000" b="1" dirty="0">
                <a:solidFill>
                  <a:srgbClr val="1E1B1B"/>
                </a:solidFill>
                <a:latin typeface="Nobile" pitchFamily="34" charset="0"/>
                <a:ea typeface="Nobile" pitchFamily="34" charset="-122"/>
                <a:cs typeface="Nobile" pitchFamily="34" charset="-120"/>
              </a:rPr>
              <a:t>Massive Multilingual Coverage:</a:t>
            </a:r>
            <a:pPr algn="l" indent="0" marL="0">
              <a:lnSpc>
                <a:spcPts val="1200"/>
              </a:lnSpc>
              <a:buNone/>
            </a:pPr>
            <a:r>
              <a:rPr lang="en-US" sz="1000" dirty="0">
                <a:solidFill>
                  <a:srgbClr val="1E1B1B"/>
                </a:solidFill>
                <a:latin typeface="Nobile" pitchFamily="34" charset="0"/>
                <a:ea typeface="Nobile" pitchFamily="34" charset="-122"/>
                <a:cs typeface="Nobile" pitchFamily="34" charset="-120"/>
              </a:rPr>
              <a:t> Pre-trained on unlabeled speech data spanning over 40 Indian languages and dialects, including both Indo-Aryan and Dravidian families. This breadth ensures the shared encoder learns cross-lingual representations that generalize well even to extremely low-resource languages.</a:t>
            </a:r>
            <a:endParaRPr lang="en-US" sz="1000" dirty="0"/>
          </a:p>
        </p:txBody>
      </p:sp>
      <p:sp>
        <p:nvSpPr>
          <p:cNvPr id="15" name="Text 13"/>
          <p:cNvSpPr/>
          <p:nvPr/>
        </p:nvSpPr>
        <p:spPr>
          <a:xfrm>
            <a:off x="1069658" y="4673918"/>
            <a:ext cx="12958048" cy="308610"/>
          </a:xfrm>
          <a:prstGeom prst="rect">
            <a:avLst/>
          </a:prstGeom>
          <a:noFill/>
          <a:ln/>
        </p:spPr>
        <p:txBody>
          <a:bodyPr wrap="square" lIns="0" tIns="0" rIns="0" bIns="0" rtlCol="0" anchor="t"/>
          <a:lstStyle/>
          <a:p>
            <a:pPr algn="l" indent="0" marL="0">
              <a:lnSpc>
                <a:spcPts val="1200"/>
              </a:lnSpc>
              <a:buNone/>
            </a:pPr>
            <a:r>
              <a:rPr lang="en-US" sz="1000" b="1" dirty="0">
                <a:solidFill>
                  <a:srgbClr val="1E1B1B"/>
                </a:solidFill>
                <a:latin typeface="Nobile" pitchFamily="34" charset="0"/>
                <a:ea typeface="Nobile" pitchFamily="34" charset="-122"/>
                <a:cs typeface="Nobile" pitchFamily="34" charset="-120"/>
              </a:rPr>
              <a:t>Fine-Tuning Flexibility:</a:t>
            </a:r>
            <a:pPr algn="l" indent="0" marL="0">
              <a:lnSpc>
                <a:spcPts val="1200"/>
              </a:lnSpc>
              <a:buNone/>
            </a:pPr>
            <a:r>
              <a:rPr lang="en-US" sz="1000" dirty="0">
                <a:solidFill>
                  <a:srgbClr val="1E1B1B"/>
                </a:solidFill>
                <a:latin typeface="Nobile" pitchFamily="34" charset="0"/>
                <a:ea typeface="Nobile" pitchFamily="34" charset="-122"/>
                <a:cs typeface="Nobile" pitchFamily="34" charset="-120"/>
              </a:rPr>
              <a:t> After SSL pre-training, the model can be fine-tuned with </a:t>
            </a:r>
            <a:pPr algn="l" indent="0" marL="0">
              <a:lnSpc>
                <a:spcPts val="1200"/>
              </a:lnSpc>
              <a:buNone/>
            </a:pPr>
            <a:r>
              <a:rPr lang="en-US" sz="1000" b="1" dirty="0">
                <a:solidFill>
                  <a:srgbClr val="1E1B1B"/>
                </a:solidFill>
                <a:latin typeface="Nobile" pitchFamily="34" charset="0"/>
                <a:ea typeface="Nobile" pitchFamily="34" charset="-122"/>
                <a:cs typeface="Nobile" pitchFamily="34" charset="-120"/>
              </a:rPr>
              <a:t>small labeled datasets</a:t>
            </a:r>
            <a:pPr algn="l" indent="0" marL="0">
              <a:lnSpc>
                <a:spcPts val="1200"/>
              </a:lnSpc>
              <a:buNone/>
            </a:pPr>
            <a:r>
              <a:rPr lang="en-US" sz="1000" dirty="0">
                <a:solidFill>
                  <a:srgbClr val="1E1B1B"/>
                </a:solidFill>
                <a:latin typeface="Nobile" pitchFamily="34" charset="0"/>
                <a:ea typeface="Nobile" pitchFamily="34" charset="-122"/>
                <a:cs typeface="Nobile" pitchFamily="34" charset="-120"/>
              </a:rPr>
              <a:t> for any specific Indian language, making high-quality ASR accessible even where transcribed audio data is scarce or cost-prohibitive to collect.</a:t>
            </a:r>
            <a:endParaRPr lang="en-US" sz="1000" dirty="0"/>
          </a:p>
        </p:txBody>
      </p:sp>
      <p:sp>
        <p:nvSpPr>
          <p:cNvPr id="16" name="Shape 14"/>
          <p:cNvSpPr/>
          <p:nvPr/>
        </p:nvSpPr>
        <p:spPr>
          <a:xfrm>
            <a:off x="456962" y="5203388"/>
            <a:ext cx="13716476" cy="1194554"/>
          </a:xfrm>
          <a:prstGeom prst="roundRect">
            <a:avLst>
              <a:gd name="adj" fmla="val 4591"/>
            </a:avLst>
          </a:prstGeom>
          <a:solidFill>
            <a:srgbClr val="FAFAFA"/>
          </a:solidFill>
          <a:ln w="15240">
            <a:solidFill>
              <a:srgbClr val="FF8225"/>
            </a:solidFill>
            <a:prstDash val="solid"/>
          </a:ln>
        </p:spPr>
      </p:sp>
      <p:sp>
        <p:nvSpPr>
          <p:cNvPr id="17" name="Shape 15"/>
          <p:cNvSpPr/>
          <p:nvPr/>
        </p:nvSpPr>
        <p:spPr>
          <a:xfrm>
            <a:off x="472202" y="5218628"/>
            <a:ext cx="522327" cy="1164074"/>
          </a:xfrm>
          <a:prstGeom prst="roundRect">
            <a:avLst>
              <a:gd name="adj" fmla="val 6999"/>
            </a:avLst>
          </a:prstGeom>
          <a:solidFill>
            <a:srgbClr val="FF8225"/>
          </a:solidFill>
          <a:ln/>
        </p:spPr>
      </p:sp>
      <p:sp>
        <p:nvSpPr>
          <p:cNvPr id="18" name="Text 16"/>
          <p:cNvSpPr/>
          <p:nvPr/>
        </p:nvSpPr>
        <p:spPr>
          <a:xfrm>
            <a:off x="635437" y="5702737"/>
            <a:ext cx="195858" cy="195858"/>
          </a:xfrm>
          <a:prstGeom prst="rect">
            <a:avLst/>
          </a:prstGeom>
          <a:noFill/>
          <a:ln/>
        </p:spPr>
        <p:txBody>
          <a:bodyPr wrap="none" lIns="0" tIns="0" rIns="0" bIns="0" rtlCol="0" anchor="t"/>
          <a:lstStyle/>
          <a:p>
            <a:pPr algn="l" indent="0" marL="0">
              <a:lnSpc>
                <a:spcPts val="1500"/>
              </a:lnSpc>
              <a:buNone/>
            </a:pPr>
            <a:r>
              <a:rPr lang="en-US" sz="1500" dirty="0">
                <a:solidFill>
                  <a:srgbClr val="000000"/>
                </a:solidFill>
                <a:latin typeface="Funnel Display Medium" pitchFamily="34" charset="0"/>
                <a:ea typeface="Funnel Display Medium" pitchFamily="34" charset="-122"/>
                <a:cs typeface="Funnel Display Medium" pitchFamily="34" charset="-120"/>
              </a:rPr>
              <a:t>3</a:t>
            </a:r>
            <a:endParaRPr lang="en-US" sz="1500" dirty="0"/>
          </a:p>
        </p:txBody>
      </p:sp>
      <p:sp>
        <p:nvSpPr>
          <p:cNvPr id="19" name="Text 17"/>
          <p:cNvSpPr/>
          <p:nvPr/>
        </p:nvSpPr>
        <p:spPr>
          <a:xfrm>
            <a:off x="1069658" y="5349121"/>
            <a:ext cx="3120747" cy="195858"/>
          </a:xfrm>
          <a:prstGeom prst="rect">
            <a:avLst/>
          </a:prstGeom>
          <a:noFill/>
          <a:ln/>
        </p:spPr>
        <p:txBody>
          <a:bodyPr wrap="none" lIns="0" tIns="0" rIns="0" bIns="0" rtlCol="0" anchor="t"/>
          <a:lstStyle/>
          <a:p>
            <a:pPr algn="l" indent="0" marL="0">
              <a:lnSpc>
                <a:spcPts val="1500"/>
              </a:lnSpc>
              <a:buNone/>
            </a:pPr>
            <a:r>
              <a:rPr lang="en-US" sz="1500" dirty="0">
                <a:solidFill>
                  <a:srgbClr val="1E1B1B"/>
                </a:solidFill>
                <a:latin typeface="Funnel Display Medium" pitchFamily="34" charset="0"/>
                <a:ea typeface="Funnel Display Medium" pitchFamily="34" charset="-122"/>
                <a:cs typeface="Funnel Display Medium" pitchFamily="34" charset="-120"/>
              </a:rPr>
              <a:t>Unique Phonetic Nuance Capture</a:t>
            </a:r>
            <a:endParaRPr lang="en-US" sz="1500" dirty="0"/>
          </a:p>
        </p:txBody>
      </p:sp>
      <p:sp>
        <p:nvSpPr>
          <p:cNvPr id="20" name="Text 18"/>
          <p:cNvSpPr/>
          <p:nvPr/>
        </p:nvSpPr>
        <p:spPr>
          <a:xfrm>
            <a:off x="1069658" y="5589984"/>
            <a:ext cx="12958048" cy="308610"/>
          </a:xfrm>
          <a:prstGeom prst="rect">
            <a:avLst/>
          </a:prstGeom>
          <a:noFill/>
          <a:ln/>
        </p:spPr>
        <p:txBody>
          <a:bodyPr wrap="square" lIns="0" tIns="0" rIns="0" bIns="0" rtlCol="0" anchor="t"/>
          <a:lstStyle/>
          <a:p>
            <a:pPr algn="l" indent="0" marL="0">
              <a:lnSpc>
                <a:spcPts val="1200"/>
              </a:lnSpc>
              <a:buNone/>
            </a:pPr>
            <a:r>
              <a:rPr lang="en-US" sz="1000" b="1" dirty="0">
                <a:solidFill>
                  <a:srgbClr val="1E1B1B"/>
                </a:solidFill>
                <a:latin typeface="Nobile" pitchFamily="34" charset="0"/>
                <a:ea typeface="Nobile" pitchFamily="34" charset="-122"/>
                <a:cs typeface="Nobile" pitchFamily="34" charset="-120"/>
              </a:rPr>
              <a:t>Subword Tokenization:</a:t>
            </a:r>
            <a:pPr algn="l" indent="0" marL="0">
              <a:lnSpc>
                <a:spcPts val="1200"/>
              </a:lnSpc>
              <a:buNone/>
            </a:pPr>
            <a:r>
              <a:rPr lang="en-US" sz="1000" dirty="0">
                <a:solidFill>
                  <a:srgbClr val="1E1B1B"/>
                </a:solidFill>
                <a:latin typeface="Nobile" pitchFamily="34" charset="0"/>
                <a:ea typeface="Nobile" pitchFamily="34" charset="-122"/>
                <a:cs typeface="Nobile" pitchFamily="34" charset="-120"/>
              </a:rPr>
              <a:t> IndicWav2Vec uses language-specific tokenizers aligned with Indic scripts, ensuring that phoneme-to-grapheme mappings respect the morphological richness of languages like Sanskrit-derived Hindi or agglutinative Tamil and Kannada.</a:t>
            </a:r>
            <a:endParaRPr lang="en-US" sz="1000" dirty="0"/>
          </a:p>
        </p:txBody>
      </p:sp>
      <p:sp>
        <p:nvSpPr>
          <p:cNvPr id="21" name="Text 19"/>
          <p:cNvSpPr/>
          <p:nvPr/>
        </p:nvSpPr>
        <p:spPr>
          <a:xfrm>
            <a:off x="1069658" y="5943600"/>
            <a:ext cx="12958048" cy="308610"/>
          </a:xfrm>
          <a:prstGeom prst="rect">
            <a:avLst/>
          </a:prstGeom>
          <a:noFill/>
          <a:ln/>
        </p:spPr>
        <p:txBody>
          <a:bodyPr wrap="square" lIns="0" tIns="0" rIns="0" bIns="0" rtlCol="0" anchor="t"/>
          <a:lstStyle/>
          <a:p>
            <a:pPr algn="l" indent="0" marL="0">
              <a:lnSpc>
                <a:spcPts val="1200"/>
              </a:lnSpc>
              <a:buNone/>
            </a:pPr>
            <a:r>
              <a:rPr lang="en-US" sz="1000" b="1" dirty="0">
                <a:solidFill>
                  <a:srgbClr val="1E1B1B"/>
                </a:solidFill>
                <a:latin typeface="Nobile" pitchFamily="34" charset="0"/>
                <a:ea typeface="Nobile" pitchFamily="34" charset="-122"/>
                <a:cs typeface="Nobile" pitchFamily="34" charset="-120"/>
              </a:rPr>
              <a:t>Competitive Downstream Performance:</a:t>
            </a:r>
            <a:pPr algn="l" indent="0" marL="0">
              <a:lnSpc>
                <a:spcPts val="1200"/>
              </a:lnSpc>
              <a:buNone/>
            </a:pPr>
            <a:r>
              <a:rPr lang="en-US" sz="1000" dirty="0">
                <a:solidFill>
                  <a:srgbClr val="1E1B1B"/>
                </a:solidFill>
                <a:latin typeface="Nobile" pitchFamily="34" charset="0"/>
                <a:ea typeface="Nobile" pitchFamily="34" charset="-122"/>
                <a:cs typeface="Nobile" pitchFamily="34" charset="-120"/>
              </a:rPr>
              <a:t> Despite relying on unlabeled data, IndicWav2Vec achieves </a:t>
            </a:r>
            <a:pPr algn="l" indent="0" marL="0">
              <a:lnSpc>
                <a:spcPts val="1200"/>
              </a:lnSpc>
              <a:buNone/>
            </a:pPr>
            <a:r>
              <a:rPr lang="en-US" sz="1000" b="1" dirty="0">
                <a:solidFill>
                  <a:srgbClr val="1E1B1B"/>
                </a:solidFill>
                <a:latin typeface="Nobile" pitchFamily="34" charset="0"/>
                <a:ea typeface="Nobile" pitchFamily="34" charset="-122"/>
                <a:cs typeface="Nobile" pitchFamily="34" charset="-120"/>
              </a:rPr>
              <a:t>competitive WER</a:t>
            </a:r>
            <a:pPr algn="l" indent="0" marL="0">
              <a:lnSpc>
                <a:spcPts val="1200"/>
              </a:lnSpc>
              <a:buNone/>
            </a:pPr>
            <a:r>
              <a:rPr lang="en-US" sz="1000" dirty="0">
                <a:solidFill>
                  <a:srgbClr val="1E1B1B"/>
                </a:solidFill>
                <a:latin typeface="Nobile" pitchFamily="34" charset="0"/>
                <a:ea typeface="Nobile" pitchFamily="34" charset="-122"/>
                <a:cs typeface="Nobile" pitchFamily="34" charset="-120"/>
              </a:rPr>
              <a:t> (Word Error Rate) when fine-tuned, often matching or exceeding supervised baselines — validating the SSL approach as a scalable solution for Indic ASR.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3642" y="1481018"/>
            <a:ext cx="6036350" cy="402669"/>
          </a:xfrm>
          <a:prstGeom prst="rect">
            <a:avLst/>
          </a:prstGeom>
          <a:noFill/>
          <a:ln/>
        </p:spPr>
        <p:txBody>
          <a:bodyPr wrap="none" lIns="0" tIns="0" rIns="0" bIns="0" rtlCol="0" anchor="t"/>
          <a:lstStyle/>
          <a:p>
            <a:pPr algn="l" indent="0" marL="0">
              <a:lnSpc>
                <a:spcPts val="3150"/>
              </a:lnSpc>
              <a:buNone/>
            </a:pPr>
            <a:r>
              <a:rPr lang="en-US" sz="3150" dirty="0">
                <a:solidFill>
                  <a:srgbClr val="2C0306"/>
                </a:solidFill>
                <a:latin typeface="Funnel Display Medium" pitchFamily="34" charset="0"/>
                <a:ea typeface="Funnel Display Medium" pitchFamily="34" charset="-122"/>
                <a:cs typeface="Funnel Display Medium" pitchFamily="34" charset="-120"/>
              </a:rPr>
              <a:t>Model Comparison: At a Glance</a:t>
            </a:r>
            <a:endParaRPr lang="en-US" sz="3150" dirty="0"/>
          </a:p>
        </p:txBody>
      </p:sp>
      <p:sp>
        <p:nvSpPr>
          <p:cNvPr id="3" name="Shape 1"/>
          <p:cNvSpPr/>
          <p:nvPr/>
        </p:nvSpPr>
        <p:spPr>
          <a:xfrm>
            <a:off x="447675" y="2055138"/>
            <a:ext cx="6787039" cy="2287429"/>
          </a:xfrm>
          <a:prstGeom prst="roundRect">
            <a:avLst>
              <a:gd name="adj" fmla="val 5070"/>
            </a:avLst>
          </a:prstGeom>
          <a:solidFill>
            <a:srgbClr val="2794F5"/>
          </a:solidFill>
          <a:ln/>
        </p:spPr>
      </p:sp>
      <p:sp>
        <p:nvSpPr>
          <p:cNvPr id="4" name="Text 2"/>
          <p:cNvSpPr/>
          <p:nvPr/>
        </p:nvSpPr>
        <p:spPr>
          <a:xfrm>
            <a:off x="608648" y="2169438"/>
            <a:ext cx="2797254" cy="201335"/>
          </a:xfrm>
          <a:prstGeom prst="rect">
            <a:avLst/>
          </a:prstGeom>
          <a:noFill/>
          <a:ln/>
        </p:spPr>
        <p:txBody>
          <a:bodyPr wrap="none" lIns="0" tIns="0" rIns="0" bIns="0" rtlCol="0" anchor="t"/>
          <a:lstStyle/>
          <a:p>
            <a:pPr algn="l" indent="0" marL="0">
              <a:lnSpc>
                <a:spcPts val="1550"/>
              </a:lnSpc>
              <a:buNone/>
            </a:pPr>
            <a:r>
              <a:rPr lang="en-US" sz="1550" dirty="0">
                <a:solidFill>
                  <a:srgbClr val="FAFAFA"/>
                </a:solidFill>
                <a:latin typeface="Funnel Display Medium" pitchFamily="34" charset="0"/>
                <a:ea typeface="Funnel Display Medium" pitchFamily="34" charset="-122"/>
                <a:cs typeface="Funnel Display Medium" pitchFamily="34" charset="-120"/>
              </a:rPr>
              <a:t>Key Architectural Differences</a:t>
            </a:r>
            <a:endParaRPr lang="en-US" sz="1550" dirty="0"/>
          </a:p>
        </p:txBody>
      </p:sp>
      <p:sp>
        <p:nvSpPr>
          <p:cNvPr id="5" name="Text 3"/>
          <p:cNvSpPr/>
          <p:nvPr/>
        </p:nvSpPr>
        <p:spPr>
          <a:xfrm>
            <a:off x="608648" y="2485073"/>
            <a:ext cx="6465094" cy="413147"/>
          </a:xfrm>
          <a:prstGeom prst="rect">
            <a:avLst/>
          </a:prstGeom>
          <a:noFill/>
          <a:ln/>
        </p:spPr>
        <p:txBody>
          <a:bodyPr wrap="square" lIns="0" tIns="0" rIns="0" bIns="0" rtlCol="0" anchor="t"/>
          <a:lstStyle/>
          <a:p>
            <a:pPr algn="l" indent="0" marL="0">
              <a:lnSpc>
                <a:spcPts val="1600"/>
              </a:lnSpc>
              <a:buNone/>
            </a:pPr>
            <a:r>
              <a:rPr lang="en-US" sz="1250" b="1" dirty="0">
                <a:solidFill>
                  <a:srgbClr val="FAFAFA"/>
                </a:solidFill>
                <a:latin typeface="Nobile" pitchFamily="34" charset="0"/>
                <a:ea typeface="Nobile" pitchFamily="34" charset="-122"/>
                <a:cs typeface="Nobile" pitchFamily="34" charset="-120"/>
              </a:rPr>
              <a:t>Indic Conformer:</a:t>
            </a:r>
            <a:pPr algn="l" indent="0" marL="0">
              <a:lnSpc>
                <a:spcPts val="1600"/>
              </a:lnSpc>
              <a:buNone/>
            </a:pPr>
            <a:r>
              <a:rPr lang="en-US" sz="1250" dirty="0">
                <a:solidFill>
                  <a:srgbClr val="000000"/>
                </a:solidFill>
                <a:latin typeface="Nobile" pitchFamily="34" charset="0"/>
                <a:ea typeface="Nobile" pitchFamily="34" charset="-122"/>
                <a:cs typeface="Nobile" pitchFamily="34" charset="-120"/>
              </a:rPr>
              <a:t> Transformer + CNN hybrid encoder, supervised multilingual training</a:t>
            </a:r>
            <a:endParaRPr lang="en-US" sz="1250" dirty="0"/>
          </a:p>
        </p:txBody>
      </p:sp>
      <p:sp>
        <p:nvSpPr>
          <p:cNvPr id="6" name="Text 4"/>
          <p:cNvSpPr/>
          <p:nvPr/>
        </p:nvSpPr>
        <p:spPr>
          <a:xfrm>
            <a:off x="608648" y="3001089"/>
            <a:ext cx="6465094" cy="413147"/>
          </a:xfrm>
          <a:prstGeom prst="rect">
            <a:avLst/>
          </a:prstGeom>
          <a:noFill/>
          <a:ln/>
        </p:spPr>
        <p:txBody>
          <a:bodyPr wrap="square" lIns="0" tIns="0" rIns="0" bIns="0" rtlCol="0" anchor="t"/>
          <a:lstStyle/>
          <a:p>
            <a:pPr algn="l" indent="0" marL="0">
              <a:lnSpc>
                <a:spcPts val="1600"/>
              </a:lnSpc>
              <a:buNone/>
            </a:pPr>
            <a:r>
              <a:rPr lang="en-US" sz="1250" b="1" dirty="0">
                <a:solidFill>
                  <a:srgbClr val="FAFAFA"/>
                </a:solidFill>
                <a:latin typeface="Nobile" pitchFamily="34" charset="0"/>
                <a:ea typeface="Nobile" pitchFamily="34" charset="-122"/>
                <a:cs typeface="Nobile" pitchFamily="34" charset="-120"/>
              </a:rPr>
              <a:t>Whisper V3 Turbo:</a:t>
            </a:r>
            <a:pPr algn="l" indent="0" marL="0">
              <a:lnSpc>
                <a:spcPts val="1600"/>
              </a:lnSpc>
              <a:buNone/>
            </a:pPr>
            <a:r>
              <a:rPr lang="en-US" sz="1250" dirty="0">
                <a:solidFill>
                  <a:srgbClr val="000000"/>
                </a:solidFill>
                <a:latin typeface="Nobile" pitchFamily="34" charset="0"/>
                <a:ea typeface="Nobile" pitchFamily="34" charset="-122"/>
                <a:cs typeface="Nobile" pitchFamily="34" charset="-120"/>
              </a:rPr>
              <a:t> Encoder-decoder Transformer, 4 decoder layers, weakly supervised</a:t>
            </a:r>
            <a:endParaRPr lang="en-US" sz="1250" dirty="0"/>
          </a:p>
        </p:txBody>
      </p:sp>
      <p:sp>
        <p:nvSpPr>
          <p:cNvPr id="7" name="Text 5"/>
          <p:cNvSpPr/>
          <p:nvPr/>
        </p:nvSpPr>
        <p:spPr>
          <a:xfrm>
            <a:off x="608648" y="3517106"/>
            <a:ext cx="6465094" cy="413147"/>
          </a:xfrm>
          <a:prstGeom prst="rect">
            <a:avLst/>
          </a:prstGeom>
          <a:noFill/>
          <a:ln/>
        </p:spPr>
        <p:txBody>
          <a:bodyPr wrap="square" lIns="0" tIns="0" rIns="0" bIns="0" rtlCol="0" anchor="t"/>
          <a:lstStyle/>
          <a:p>
            <a:pPr algn="l" indent="0" marL="0">
              <a:lnSpc>
                <a:spcPts val="1600"/>
              </a:lnSpc>
              <a:buNone/>
            </a:pPr>
            <a:r>
              <a:rPr lang="en-US" sz="1250" b="1" dirty="0">
                <a:solidFill>
                  <a:srgbClr val="FAFAFA"/>
                </a:solidFill>
                <a:latin typeface="Nobile" pitchFamily="34" charset="0"/>
                <a:ea typeface="Nobile" pitchFamily="34" charset="-122"/>
                <a:cs typeface="Nobile" pitchFamily="34" charset="-120"/>
              </a:rPr>
              <a:t>IndicWav2Vec:</a:t>
            </a:r>
            <a:pPr algn="l" indent="0" marL="0">
              <a:lnSpc>
                <a:spcPts val="1600"/>
              </a:lnSpc>
              <a:buNone/>
            </a:pPr>
            <a:r>
              <a:rPr lang="en-US" sz="1250" dirty="0">
                <a:solidFill>
                  <a:srgbClr val="000000"/>
                </a:solidFill>
                <a:latin typeface="Nobile" pitchFamily="34" charset="0"/>
                <a:ea typeface="Nobile" pitchFamily="34" charset="-122"/>
                <a:cs typeface="Nobile" pitchFamily="34" charset="-120"/>
              </a:rPr>
              <a:t> SSL-based Wav2Vec 2.0 backbone, fine-tuned from unlabeled Indic audio</a:t>
            </a:r>
            <a:endParaRPr lang="en-US" sz="1250" dirty="0"/>
          </a:p>
        </p:txBody>
      </p:sp>
      <p:sp>
        <p:nvSpPr>
          <p:cNvPr id="8" name="Text 6"/>
          <p:cNvSpPr/>
          <p:nvPr/>
        </p:nvSpPr>
        <p:spPr>
          <a:xfrm>
            <a:off x="608648" y="4033123"/>
            <a:ext cx="6465094" cy="206573"/>
          </a:xfrm>
          <a:prstGeom prst="rect">
            <a:avLst/>
          </a:prstGeom>
          <a:noFill/>
          <a:ln/>
        </p:spPr>
        <p:txBody>
          <a:bodyPr wrap="none" lIns="0" tIns="0" rIns="0" bIns="0" rtlCol="0" anchor="t"/>
          <a:lstStyle/>
          <a:p>
            <a:pPr algn="l" indent="0" marL="0">
              <a:lnSpc>
                <a:spcPts val="1600"/>
              </a:lnSpc>
              <a:buNone/>
            </a:pPr>
            <a:r>
              <a:rPr lang="en-US" sz="1250" b="1" dirty="0">
                <a:solidFill>
                  <a:srgbClr val="FAFAFA"/>
                </a:solidFill>
                <a:latin typeface="Nobile" pitchFamily="34" charset="0"/>
                <a:ea typeface="Nobile" pitchFamily="34" charset="-122"/>
                <a:cs typeface="Nobile" pitchFamily="34" charset="-120"/>
              </a:rPr>
              <a:t>Design Philosophy:</a:t>
            </a:r>
            <a:pPr algn="l" indent="0" marL="0">
              <a:lnSpc>
                <a:spcPts val="1600"/>
              </a:lnSpc>
              <a:buNone/>
            </a:pPr>
            <a:r>
              <a:rPr lang="en-US" sz="1250" dirty="0">
                <a:solidFill>
                  <a:srgbClr val="000000"/>
                </a:solidFill>
                <a:latin typeface="Nobile" pitchFamily="34" charset="0"/>
                <a:ea typeface="Nobile" pitchFamily="34" charset="-122"/>
                <a:cs typeface="Nobile" pitchFamily="34" charset="-120"/>
              </a:rPr>
              <a:t> Edge efficiency vs. global scale vs. low-resource SSL</a:t>
            </a:r>
            <a:endParaRPr lang="en-US" sz="1250" dirty="0"/>
          </a:p>
        </p:txBody>
      </p:sp>
      <p:sp>
        <p:nvSpPr>
          <p:cNvPr id="9" name="Shape 7"/>
          <p:cNvSpPr/>
          <p:nvPr/>
        </p:nvSpPr>
        <p:spPr>
          <a:xfrm>
            <a:off x="7403306" y="2055138"/>
            <a:ext cx="6787039" cy="2287429"/>
          </a:xfrm>
          <a:prstGeom prst="roundRect">
            <a:avLst>
              <a:gd name="adj" fmla="val 5070"/>
            </a:avLst>
          </a:prstGeom>
          <a:solidFill>
            <a:srgbClr val="FDD35D"/>
          </a:solidFill>
          <a:ln/>
        </p:spPr>
      </p:sp>
      <p:sp>
        <p:nvSpPr>
          <p:cNvPr id="10" name="Text 8"/>
          <p:cNvSpPr/>
          <p:nvPr/>
        </p:nvSpPr>
        <p:spPr>
          <a:xfrm>
            <a:off x="7564279" y="2169438"/>
            <a:ext cx="2013228" cy="201335"/>
          </a:xfrm>
          <a:prstGeom prst="rect">
            <a:avLst/>
          </a:prstGeom>
          <a:noFill/>
          <a:ln/>
        </p:spPr>
        <p:txBody>
          <a:bodyPr wrap="none" lIns="0" tIns="0" rIns="0" bIns="0" rtlCol="0" anchor="t"/>
          <a:lstStyle/>
          <a:p>
            <a:pPr algn="l" indent="0" marL="0">
              <a:lnSpc>
                <a:spcPts val="1550"/>
              </a:lnSpc>
              <a:buNone/>
            </a:pPr>
            <a:r>
              <a:rPr lang="en-US" sz="1550" dirty="0">
                <a:solidFill>
                  <a:srgbClr val="2C0306"/>
                </a:solidFill>
                <a:latin typeface="Funnel Display Medium" pitchFamily="34" charset="0"/>
                <a:ea typeface="Funnel Display Medium" pitchFamily="34" charset="-122"/>
                <a:cs typeface="Funnel Display Medium" pitchFamily="34" charset="-120"/>
              </a:rPr>
              <a:t>Best-Fit Use Cases</a:t>
            </a:r>
            <a:endParaRPr lang="en-US" sz="1550" dirty="0"/>
          </a:p>
        </p:txBody>
      </p:sp>
      <p:sp>
        <p:nvSpPr>
          <p:cNvPr id="11" name="Text 9"/>
          <p:cNvSpPr/>
          <p:nvPr/>
        </p:nvSpPr>
        <p:spPr>
          <a:xfrm>
            <a:off x="7564279" y="2485073"/>
            <a:ext cx="6465094" cy="413147"/>
          </a:xfrm>
          <a:prstGeom prst="rect">
            <a:avLst/>
          </a:prstGeom>
          <a:noFill/>
          <a:ln/>
        </p:spPr>
        <p:txBody>
          <a:bodyPr wrap="squar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Use </a:t>
            </a:r>
            <a:pPr algn="l" indent="0" marL="0">
              <a:lnSpc>
                <a:spcPts val="1600"/>
              </a:lnSpc>
              <a:buNone/>
            </a:pPr>
            <a:r>
              <a:rPr lang="en-US" sz="1250" b="1" dirty="0">
                <a:solidFill>
                  <a:srgbClr val="1E1B1B"/>
                </a:solidFill>
                <a:latin typeface="Nobile" pitchFamily="34" charset="0"/>
                <a:ea typeface="Nobile" pitchFamily="34" charset="-122"/>
                <a:cs typeface="Nobile" pitchFamily="34" charset="-120"/>
              </a:rPr>
              <a:t>Indic Conformer</a:t>
            </a:r>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 for real-time mobile ASR in Indian language apps requiring low latency.</a:t>
            </a:r>
            <a:endParaRPr lang="en-US" sz="1250" dirty="0"/>
          </a:p>
        </p:txBody>
      </p:sp>
      <p:sp>
        <p:nvSpPr>
          <p:cNvPr id="12" name="Text 10"/>
          <p:cNvSpPr/>
          <p:nvPr/>
        </p:nvSpPr>
        <p:spPr>
          <a:xfrm>
            <a:off x="7564279" y="3001089"/>
            <a:ext cx="6465094" cy="413147"/>
          </a:xfrm>
          <a:prstGeom prst="rect">
            <a:avLst/>
          </a:prstGeom>
          <a:noFill/>
          <a:ln/>
        </p:spPr>
        <p:txBody>
          <a:bodyPr wrap="squar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Use </a:t>
            </a:r>
            <a:pPr algn="l" indent="0" marL="0">
              <a:lnSpc>
                <a:spcPts val="1600"/>
              </a:lnSpc>
              <a:buNone/>
            </a:pPr>
            <a:r>
              <a:rPr lang="en-US" sz="1250" b="1" dirty="0">
                <a:solidFill>
                  <a:srgbClr val="1E1B1B"/>
                </a:solidFill>
                <a:latin typeface="Nobile" pitchFamily="34" charset="0"/>
                <a:ea typeface="Nobile" pitchFamily="34" charset="-122"/>
                <a:cs typeface="Nobile" pitchFamily="34" charset="-120"/>
              </a:rPr>
              <a:t>Whisper V3 Turbo</a:t>
            </a:r>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 for fast, zero-shot multilingual transcription pipelines at cloud scale.</a:t>
            </a:r>
            <a:endParaRPr lang="en-US" sz="1250" dirty="0"/>
          </a:p>
        </p:txBody>
      </p:sp>
      <p:sp>
        <p:nvSpPr>
          <p:cNvPr id="13" name="Text 11"/>
          <p:cNvSpPr/>
          <p:nvPr/>
        </p:nvSpPr>
        <p:spPr>
          <a:xfrm>
            <a:off x="7564279" y="3517106"/>
            <a:ext cx="6465094" cy="413147"/>
          </a:xfrm>
          <a:prstGeom prst="rect">
            <a:avLst/>
          </a:prstGeom>
          <a:noFill/>
          <a:ln/>
        </p:spPr>
        <p:txBody>
          <a:bodyPr wrap="square" lIns="0" tIns="0" rIns="0" bIns="0" rtlCol="0" anchor="t"/>
          <a:lstStyle/>
          <a:p>
            <a:pPr algn="l" indent="0" marL="0">
              <a:lnSpc>
                <a:spcPts val="1600"/>
              </a:lnSpc>
              <a:buNone/>
            </a:pPr>
            <a:r>
              <a:rPr lang="en-US" sz="1250" b="1" dirty="0">
                <a:solidFill>
                  <a:srgbClr val="1E1B1B"/>
                </a:solidFill>
                <a:latin typeface="Nobile" pitchFamily="34" charset="0"/>
                <a:ea typeface="Nobile" pitchFamily="34" charset="-122"/>
                <a:cs typeface="Nobile" pitchFamily="34" charset="-120"/>
              </a:rPr>
              <a:t>IndicWav2Vec</a:t>
            </a:r>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 excels in research and fine-tuning scenarios with limited labeled Indic data.</a:t>
            </a:r>
            <a:endParaRPr lang="en-US" sz="1250" dirty="0"/>
          </a:p>
        </p:txBody>
      </p:sp>
      <p:sp>
        <p:nvSpPr>
          <p:cNvPr id="14" name="Shape 12"/>
          <p:cNvSpPr/>
          <p:nvPr/>
        </p:nvSpPr>
        <p:spPr>
          <a:xfrm>
            <a:off x="563642" y="4471154"/>
            <a:ext cx="13503116" cy="2277428"/>
          </a:xfrm>
          <a:prstGeom prst="roundRect">
            <a:avLst>
              <a:gd name="adj" fmla="val 2970"/>
            </a:avLst>
          </a:prstGeom>
          <a:noFill/>
          <a:ln w="7620">
            <a:solidFill>
              <a:srgbClr val="000000">
                <a:alpha val="8000"/>
              </a:srgbClr>
            </a:solidFill>
            <a:prstDash val="solid"/>
          </a:ln>
        </p:spPr>
      </p:sp>
      <p:sp>
        <p:nvSpPr>
          <p:cNvPr id="15" name="Shape 13"/>
          <p:cNvSpPr/>
          <p:nvPr/>
        </p:nvSpPr>
        <p:spPr>
          <a:xfrm>
            <a:off x="571262" y="4478774"/>
            <a:ext cx="13487876" cy="358973"/>
          </a:xfrm>
          <a:prstGeom prst="rect">
            <a:avLst/>
          </a:prstGeom>
          <a:solidFill>
            <a:srgbClr val="FFFFFF">
              <a:alpha val="4000"/>
            </a:srgbClr>
          </a:solidFill>
          <a:ln/>
        </p:spPr>
      </p:sp>
      <p:sp>
        <p:nvSpPr>
          <p:cNvPr id="16" name="Text 14"/>
          <p:cNvSpPr/>
          <p:nvPr/>
        </p:nvSpPr>
        <p:spPr>
          <a:xfrm>
            <a:off x="732473" y="4554974"/>
            <a:ext cx="2641521" cy="206573"/>
          </a:xfrm>
          <a:prstGeom prst="rect">
            <a:avLst/>
          </a:prstGeom>
          <a:noFill/>
          <a:ln/>
        </p:spPr>
        <p:txBody>
          <a:bodyPr wrap="none" lIns="0" tIns="0" rIns="0" bIns="0" rtlCol="0" anchor="t"/>
          <a:lstStyle/>
          <a:p>
            <a:pPr algn="l" indent="0" marL="0">
              <a:lnSpc>
                <a:spcPts val="1600"/>
              </a:lnSpc>
              <a:buNone/>
            </a:pPr>
            <a:r>
              <a:rPr lang="en-US" sz="1250" b="1" dirty="0">
                <a:solidFill>
                  <a:srgbClr val="1E1B1B"/>
                </a:solidFill>
                <a:latin typeface="Nobile" pitchFamily="34" charset="0"/>
                <a:ea typeface="Nobile" pitchFamily="34" charset="-122"/>
                <a:cs typeface="Nobile" pitchFamily="34" charset="-120"/>
              </a:rPr>
              <a:t>Model</a:t>
            </a:r>
            <a:endParaRPr lang="en-US" sz="1250" dirty="0"/>
          </a:p>
        </p:txBody>
      </p:sp>
      <p:sp>
        <p:nvSpPr>
          <p:cNvPr id="17" name="Text 15"/>
          <p:cNvSpPr/>
          <p:nvPr/>
        </p:nvSpPr>
        <p:spPr>
          <a:xfrm>
            <a:off x="3703558" y="4554974"/>
            <a:ext cx="2098238" cy="206573"/>
          </a:xfrm>
          <a:prstGeom prst="rect">
            <a:avLst/>
          </a:prstGeom>
          <a:noFill/>
          <a:ln/>
        </p:spPr>
        <p:txBody>
          <a:bodyPr wrap="none" lIns="0" tIns="0" rIns="0" bIns="0" rtlCol="0" anchor="t"/>
          <a:lstStyle/>
          <a:p>
            <a:pPr algn="l" indent="0" marL="0">
              <a:lnSpc>
                <a:spcPts val="1600"/>
              </a:lnSpc>
              <a:buNone/>
            </a:pPr>
            <a:r>
              <a:rPr lang="en-US" sz="1250" b="1" dirty="0">
                <a:solidFill>
                  <a:srgbClr val="1E1B1B"/>
                </a:solidFill>
                <a:latin typeface="Nobile" pitchFamily="34" charset="0"/>
                <a:ea typeface="Nobile" pitchFamily="34" charset="-122"/>
                <a:cs typeface="Nobile" pitchFamily="34" charset="-120"/>
              </a:rPr>
              <a:t>Developer</a:t>
            </a:r>
            <a:endParaRPr lang="en-US" sz="1250" dirty="0"/>
          </a:p>
        </p:txBody>
      </p:sp>
      <p:sp>
        <p:nvSpPr>
          <p:cNvPr id="18" name="Text 16"/>
          <p:cNvSpPr/>
          <p:nvPr/>
        </p:nvSpPr>
        <p:spPr>
          <a:xfrm>
            <a:off x="6131362" y="4554974"/>
            <a:ext cx="2098238" cy="206573"/>
          </a:xfrm>
          <a:prstGeom prst="rect">
            <a:avLst/>
          </a:prstGeom>
          <a:noFill/>
          <a:ln/>
        </p:spPr>
        <p:txBody>
          <a:bodyPr wrap="none" lIns="0" tIns="0" rIns="0" bIns="0" rtlCol="0" anchor="t"/>
          <a:lstStyle/>
          <a:p>
            <a:pPr algn="l" indent="0" marL="0">
              <a:lnSpc>
                <a:spcPts val="1600"/>
              </a:lnSpc>
              <a:buNone/>
            </a:pPr>
            <a:r>
              <a:rPr lang="en-US" sz="1250" b="1" dirty="0">
                <a:solidFill>
                  <a:srgbClr val="1E1B1B"/>
                </a:solidFill>
                <a:latin typeface="Nobile" pitchFamily="34" charset="0"/>
                <a:ea typeface="Nobile" pitchFamily="34" charset="-122"/>
                <a:cs typeface="Nobile" pitchFamily="34" charset="-120"/>
              </a:rPr>
              <a:t>Architecture</a:t>
            </a:r>
            <a:endParaRPr lang="en-US" sz="1250" dirty="0"/>
          </a:p>
        </p:txBody>
      </p:sp>
      <p:sp>
        <p:nvSpPr>
          <p:cNvPr id="19" name="Text 17"/>
          <p:cNvSpPr/>
          <p:nvPr/>
        </p:nvSpPr>
        <p:spPr>
          <a:xfrm>
            <a:off x="8559165" y="4554974"/>
            <a:ext cx="1558647" cy="206573"/>
          </a:xfrm>
          <a:prstGeom prst="rect">
            <a:avLst/>
          </a:prstGeom>
          <a:noFill/>
          <a:ln/>
        </p:spPr>
        <p:txBody>
          <a:bodyPr wrap="none" lIns="0" tIns="0" rIns="0" bIns="0" rtlCol="0" anchor="t"/>
          <a:lstStyle/>
          <a:p>
            <a:pPr algn="l" indent="0" marL="0">
              <a:lnSpc>
                <a:spcPts val="1600"/>
              </a:lnSpc>
              <a:buNone/>
            </a:pPr>
            <a:r>
              <a:rPr lang="en-US" sz="1250" b="1" dirty="0">
                <a:solidFill>
                  <a:srgbClr val="1E1B1B"/>
                </a:solidFill>
                <a:latin typeface="Nobile" pitchFamily="34" charset="0"/>
                <a:ea typeface="Nobile" pitchFamily="34" charset="-122"/>
                <a:cs typeface="Nobile" pitchFamily="34" charset="-120"/>
              </a:rPr>
              <a:t>Speed</a:t>
            </a:r>
            <a:endParaRPr lang="en-US" sz="1250" dirty="0"/>
          </a:p>
        </p:txBody>
      </p:sp>
      <p:sp>
        <p:nvSpPr>
          <p:cNvPr id="20" name="Text 18"/>
          <p:cNvSpPr/>
          <p:nvPr/>
        </p:nvSpPr>
        <p:spPr>
          <a:xfrm>
            <a:off x="10447377" y="4554974"/>
            <a:ext cx="3450788" cy="206573"/>
          </a:xfrm>
          <a:prstGeom prst="rect">
            <a:avLst/>
          </a:prstGeom>
          <a:noFill/>
          <a:ln/>
        </p:spPr>
        <p:txBody>
          <a:bodyPr wrap="none" lIns="0" tIns="0" rIns="0" bIns="0" rtlCol="0" anchor="t"/>
          <a:lstStyle/>
          <a:p>
            <a:pPr algn="l" indent="0" marL="0">
              <a:lnSpc>
                <a:spcPts val="1600"/>
              </a:lnSpc>
              <a:buNone/>
            </a:pPr>
            <a:r>
              <a:rPr lang="en-US" sz="1250" b="1" dirty="0">
                <a:solidFill>
                  <a:srgbClr val="1E1B1B"/>
                </a:solidFill>
                <a:latin typeface="Nobile" pitchFamily="34" charset="0"/>
                <a:ea typeface="Nobile" pitchFamily="34" charset="-122"/>
                <a:cs typeface="Nobile" pitchFamily="34" charset="-120"/>
              </a:rPr>
              <a:t>Primary Use Case</a:t>
            </a:r>
            <a:endParaRPr lang="en-US" sz="1250" dirty="0"/>
          </a:p>
        </p:txBody>
      </p:sp>
      <p:sp>
        <p:nvSpPr>
          <p:cNvPr id="21" name="Shape 19"/>
          <p:cNvSpPr/>
          <p:nvPr/>
        </p:nvSpPr>
        <p:spPr>
          <a:xfrm>
            <a:off x="571262" y="4837748"/>
            <a:ext cx="13487876" cy="565547"/>
          </a:xfrm>
          <a:prstGeom prst="rect">
            <a:avLst/>
          </a:prstGeom>
          <a:solidFill>
            <a:srgbClr val="000000">
              <a:alpha val="4000"/>
            </a:srgbClr>
          </a:solidFill>
          <a:ln/>
        </p:spPr>
      </p:sp>
      <p:sp>
        <p:nvSpPr>
          <p:cNvPr id="22" name="Text 20"/>
          <p:cNvSpPr/>
          <p:nvPr/>
        </p:nvSpPr>
        <p:spPr>
          <a:xfrm>
            <a:off x="732473" y="4913948"/>
            <a:ext cx="2641521" cy="206573"/>
          </a:xfrm>
          <a:prstGeom prst="rect">
            <a:avLst/>
          </a:prstGeom>
          <a:noFill/>
          <a:ln/>
        </p:spPr>
        <p:txBody>
          <a:bodyPr wrap="non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Indic Conformer ASR</a:t>
            </a:r>
            <a:endParaRPr lang="en-US" sz="1250" dirty="0"/>
          </a:p>
        </p:txBody>
      </p:sp>
      <p:sp>
        <p:nvSpPr>
          <p:cNvPr id="23" name="Text 21"/>
          <p:cNvSpPr/>
          <p:nvPr/>
        </p:nvSpPr>
        <p:spPr>
          <a:xfrm>
            <a:off x="3703558" y="4913948"/>
            <a:ext cx="2098238" cy="206573"/>
          </a:xfrm>
          <a:prstGeom prst="rect">
            <a:avLst/>
          </a:prstGeom>
          <a:noFill/>
          <a:ln/>
        </p:spPr>
        <p:txBody>
          <a:bodyPr wrap="non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AI4Bharat</a:t>
            </a:r>
            <a:endParaRPr lang="en-US" sz="1250" dirty="0"/>
          </a:p>
        </p:txBody>
      </p:sp>
      <p:sp>
        <p:nvSpPr>
          <p:cNvPr id="24" name="Text 22"/>
          <p:cNvSpPr/>
          <p:nvPr/>
        </p:nvSpPr>
        <p:spPr>
          <a:xfrm>
            <a:off x="6131362" y="4913948"/>
            <a:ext cx="2098238" cy="413147"/>
          </a:xfrm>
          <a:prstGeom prst="rect">
            <a:avLst/>
          </a:prstGeom>
          <a:noFill/>
          <a:ln/>
        </p:spPr>
        <p:txBody>
          <a:bodyPr wrap="squar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Conformer (Transformer + CNN)</a:t>
            </a:r>
            <a:endParaRPr lang="en-US" sz="1250" dirty="0"/>
          </a:p>
        </p:txBody>
      </p:sp>
      <p:sp>
        <p:nvSpPr>
          <p:cNvPr id="25" name="Text 23"/>
          <p:cNvSpPr/>
          <p:nvPr/>
        </p:nvSpPr>
        <p:spPr>
          <a:xfrm>
            <a:off x="8559165" y="4913948"/>
            <a:ext cx="1558647" cy="413147"/>
          </a:xfrm>
          <a:prstGeom prst="rect">
            <a:avLst/>
          </a:prstGeom>
          <a:noFill/>
          <a:ln/>
        </p:spPr>
        <p:txBody>
          <a:bodyPr wrap="squar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Fast (mobile-optimized)</a:t>
            </a:r>
            <a:endParaRPr lang="en-US" sz="1250" dirty="0"/>
          </a:p>
        </p:txBody>
      </p:sp>
      <p:sp>
        <p:nvSpPr>
          <p:cNvPr id="26" name="Text 24"/>
          <p:cNvSpPr/>
          <p:nvPr/>
        </p:nvSpPr>
        <p:spPr>
          <a:xfrm>
            <a:off x="10447377" y="4913948"/>
            <a:ext cx="3450788" cy="413147"/>
          </a:xfrm>
          <a:prstGeom prst="rect">
            <a:avLst/>
          </a:prstGeom>
          <a:noFill/>
          <a:ln/>
        </p:spPr>
        <p:txBody>
          <a:bodyPr wrap="squar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Real-time Indic language ASR on mobile devices</a:t>
            </a:r>
            <a:endParaRPr lang="en-US" sz="1250" dirty="0"/>
          </a:p>
        </p:txBody>
      </p:sp>
      <p:sp>
        <p:nvSpPr>
          <p:cNvPr id="27" name="Shape 25"/>
          <p:cNvSpPr/>
          <p:nvPr/>
        </p:nvSpPr>
        <p:spPr>
          <a:xfrm>
            <a:off x="571262" y="5403294"/>
            <a:ext cx="13487876" cy="772120"/>
          </a:xfrm>
          <a:prstGeom prst="rect">
            <a:avLst/>
          </a:prstGeom>
          <a:solidFill>
            <a:srgbClr val="FFFFFF">
              <a:alpha val="4000"/>
            </a:srgbClr>
          </a:solidFill>
          <a:ln/>
        </p:spPr>
      </p:sp>
      <p:sp>
        <p:nvSpPr>
          <p:cNvPr id="28" name="Text 26"/>
          <p:cNvSpPr/>
          <p:nvPr/>
        </p:nvSpPr>
        <p:spPr>
          <a:xfrm>
            <a:off x="732473" y="5479494"/>
            <a:ext cx="2641521" cy="206573"/>
          </a:xfrm>
          <a:prstGeom prst="rect">
            <a:avLst/>
          </a:prstGeom>
          <a:noFill/>
          <a:ln/>
        </p:spPr>
        <p:txBody>
          <a:bodyPr wrap="non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Whisper V3 Turbo</a:t>
            </a:r>
            <a:endParaRPr lang="en-US" sz="1250" dirty="0"/>
          </a:p>
        </p:txBody>
      </p:sp>
      <p:sp>
        <p:nvSpPr>
          <p:cNvPr id="29" name="Text 27"/>
          <p:cNvSpPr/>
          <p:nvPr/>
        </p:nvSpPr>
        <p:spPr>
          <a:xfrm>
            <a:off x="3703558" y="5479494"/>
            <a:ext cx="2098238" cy="206573"/>
          </a:xfrm>
          <a:prstGeom prst="rect">
            <a:avLst/>
          </a:prstGeom>
          <a:noFill/>
          <a:ln/>
        </p:spPr>
        <p:txBody>
          <a:bodyPr wrap="non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OpenAI</a:t>
            </a:r>
            <a:endParaRPr lang="en-US" sz="1250" dirty="0"/>
          </a:p>
        </p:txBody>
      </p:sp>
      <p:sp>
        <p:nvSpPr>
          <p:cNvPr id="30" name="Text 28"/>
          <p:cNvSpPr/>
          <p:nvPr/>
        </p:nvSpPr>
        <p:spPr>
          <a:xfrm>
            <a:off x="6131362" y="5479494"/>
            <a:ext cx="2098238" cy="619720"/>
          </a:xfrm>
          <a:prstGeom prst="rect">
            <a:avLst/>
          </a:prstGeom>
          <a:noFill/>
          <a:ln/>
        </p:spPr>
        <p:txBody>
          <a:bodyPr wrap="squar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Encoder-Decoder Transformer (4 decoder layers)</a:t>
            </a:r>
            <a:endParaRPr lang="en-US" sz="1250" dirty="0"/>
          </a:p>
        </p:txBody>
      </p:sp>
      <p:sp>
        <p:nvSpPr>
          <p:cNvPr id="31" name="Text 29"/>
          <p:cNvSpPr/>
          <p:nvPr/>
        </p:nvSpPr>
        <p:spPr>
          <a:xfrm>
            <a:off x="8559165" y="5479494"/>
            <a:ext cx="1558647" cy="413147"/>
          </a:xfrm>
          <a:prstGeom prst="rect">
            <a:avLst/>
          </a:prstGeom>
          <a:noFill/>
          <a:ln/>
        </p:spPr>
        <p:txBody>
          <a:bodyPr wrap="squar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Very Fast (8× vs. Large-V3)</a:t>
            </a:r>
            <a:endParaRPr lang="en-US" sz="1250" dirty="0"/>
          </a:p>
        </p:txBody>
      </p:sp>
      <p:sp>
        <p:nvSpPr>
          <p:cNvPr id="32" name="Text 30"/>
          <p:cNvSpPr/>
          <p:nvPr/>
        </p:nvSpPr>
        <p:spPr>
          <a:xfrm>
            <a:off x="10447377" y="5479494"/>
            <a:ext cx="3450788" cy="413147"/>
          </a:xfrm>
          <a:prstGeom prst="rect">
            <a:avLst/>
          </a:prstGeom>
          <a:noFill/>
          <a:ln/>
        </p:spPr>
        <p:txBody>
          <a:bodyPr wrap="squar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High-speed zero-shot multilingual transcription</a:t>
            </a:r>
            <a:endParaRPr lang="en-US" sz="1250" dirty="0"/>
          </a:p>
        </p:txBody>
      </p:sp>
      <p:sp>
        <p:nvSpPr>
          <p:cNvPr id="33" name="Shape 31"/>
          <p:cNvSpPr/>
          <p:nvPr/>
        </p:nvSpPr>
        <p:spPr>
          <a:xfrm>
            <a:off x="571262" y="6175415"/>
            <a:ext cx="13487876" cy="565547"/>
          </a:xfrm>
          <a:prstGeom prst="rect">
            <a:avLst/>
          </a:prstGeom>
          <a:solidFill>
            <a:srgbClr val="000000">
              <a:alpha val="4000"/>
            </a:srgbClr>
          </a:solidFill>
          <a:ln/>
        </p:spPr>
      </p:sp>
      <p:sp>
        <p:nvSpPr>
          <p:cNvPr id="34" name="Text 32"/>
          <p:cNvSpPr/>
          <p:nvPr/>
        </p:nvSpPr>
        <p:spPr>
          <a:xfrm>
            <a:off x="732473" y="6251615"/>
            <a:ext cx="2641521" cy="206573"/>
          </a:xfrm>
          <a:prstGeom prst="rect">
            <a:avLst/>
          </a:prstGeom>
          <a:noFill/>
          <a:ln/>
        </p:spPr>
        <p:txBody>
          <a:bodyPr wrap="non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IndicWav2Vec</a:t>
            </a:r>
            <a:endParaRPr lang="en-US" sz="1250" dirty="0"/>
          </a:p>
        </p:txBody>
      </p:sp>
      <p:sp>
        <p:nvSpPr>
          <p:cNvPr id="35" name="Text 33"/>
          <p:cNvSpPr/>
          <p:nvPr/>
        </p:nvSpPr>
        <p:spPr>
          <a:xfrm>
            <a:off x="3703558" y="6251615"/>
            <a:ext cx="2098238" cy="206573"/>
          </a:xfrm>
          <a:prstGeom prst="rect">
            <a:avLst/>
          </a:prstGeom>
          <a:noFill/>
          <a:ln/>
        </p:spPr>
        <p:txBody>
          <a:bodyPr wrap="non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AI4Bharat</a:t>
            </a:r>
            <a:endParaRPr lang="en-US" sz="1250" dirty="0"/>
          </a:p>
        </p:txBody>
      </p:sp>
      <p:sp>
        <p:nvSpPr>
          <p:cNvPr id="36" name="Text 34"/>
          <p:cNvSpPr/>
          <p:nvPr/>
        </p:nvSpPr>
        <p:spPr>
          <a:xfrm>
            <a:off x="6131362" y="6251615"/>
            <a:ext cx="2098238" cy="413147"/>
          </a:xfrm>
          <a:prstGeom prst="rect">
            <a:avLst/>
          </a:prstGeom>
          <a:noFill/>
          <a:ln/>
        </p:spPr>
        <p:txBody>
          <a:bodyPr wrap="squar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Wav2Vec 2.0 (SSL pre-trained)</a:t>
            </a:r>
            <a:endParaRPr lang="en-US" sz="1250" dirty="0"/>
          </a:p>
        </p:txBody>
      </p:sp>
      <p:sp>
        <p:nvSpPr>
          <p:cNvPr id="37" name="Text 35"/>
          <p:cNvSpPr/>
          <p:nvPr/>
        </p:nvSpPr>
        <p:spPr>
          <a:xfrm>
            <a:off x="8559165" y="6251615"/>
            <a:ext cx="1558647" cy="206573"/>
          </a:xfrm>
          <a:prstGeom prst="rect">
            <a:avLst/>
          </a:prstGeom>
          <a:noFill/>
          <a:ln/>
        </p:spPr>
        <p:txBody>
          <a:bodyPr wrap="non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Moderate</a:t>
            </a:r>
            <a:endParaRPr lang="en-US" sz="1250" dirty="0"/>
          </a:p>
        </p:txBody>
      </p:sp>
      <p:sp>
        <p:nvSpPr>
          <p:cNvPr id="38" name="Text 36"/>
          <p:cNvSpPr/>
          <p:nvPr/>
        </p:nvSpPr>
        <p:spPr>
          <a:xfrm>
            <a:off x="10447377" y="6251615"/>
            <a:ext cx="3450788" cy="206573"/>
          </a:xfrm>
          <a:prstGeom prst="rect">
            <a:avLst/>
          </a:prstGeom>
          <a:noFill/>
          <a:ln/>
        </p:spPr>
        <p:txBody>
          <a:bodyPr wrap="none" lIns="0" tIns="0" rIns="0" bIns="0" rtlCol="0" anchor="t"/>
          <a:lstStyle/>
          <a:p>
            <a:pPr algn="l" indent="0" marL="0">
              <a:lnSpc>
                <a:spcPts val="1600"/>
              </a:lnSpc>
              <a:buNone/>
            </a:pPr>
            <a:r>
              <a:rPr lang="en-US" sz="1250" dirty="0">
                <a:solidFill>
                  <a:srgbClr val="1E1B1B"/>
                </a:solidFill>
                <a:latin typeface="Nobile" pitchFamily="34" charset="0"/>
                <a:ea typeface="Nobile" pitchFamily="34" charset="-122"/>
                <a:cs typeface="Nobile" pitchFamily="34" charset="-120"/>
              </a:rPr>
              <a:t>Low-resource Indic ASR via SSL fine-tuning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78299" y="903446"/>
            <a:ext cx="1255752" cy="331708"/>
          </a:xfrm>
          <a:prstGeom prst="roundRect">
            <a:avLst>
              <a:gd name="adj" fmla="val 19632"/>
            </a:avLst>
          </a:prstGeom>
          <a:solidFill>
            <a:srgbClr val="007853"/>
          </a:solidFill>
          <a:ln/>
        </p:spPr>
      </p:sp>
      <p:sp>
        <p:nvSpPr>
          <p:cNvPr id="3" name="Text 1"/>
          <p:cNvSpPr/>
          <p:nvPr/>
        </p:nvSpPr>
        <p:spPr>
          <a:xfrm>
            <a:off x="794504" y="961549"/>
            <a:ext cx="1023342" cy="215503"/>
          </a:xfrm>
          <a:prstGeom prst="rect">
            <a:avLst/>
          </a:prstGeom>
          <a:noFill/>
          <a:ln/>
        </p:spPr>
        <p:txBody>
          <a:bodyPr wrap="none" lIns="0" tIns="0" rIns="0" bIns="0" rtlCol="0" anchor="t"/>
          <a:lstStyle/>
          <a:p>
            <a:pPr algn="l" indent="0" marL="0">
              <a:lnSpc>
                <a:spcPts val="1650"/>
              </a:lnSpc>
              <a:buNone/>
            </a:pPr>
            <a:r>
              <a:rPr lang="en-US" sz="1200" dirty="0">
                <a:solidFill>
                  <a:srgbClr val="FFFFFF"/>
                </a:solidFill>
                <a:latin typeface="Nobile" pitchFamily="34" charset="0"/>
                <a:ea typeface="Nobile" pitchFamily="34" charset="-122"/>
                <a:cs typeface="Nobile" pitchFamily="34" charset="-120"/>
              </a:rPr>
              <a:t>CONCLUSION</a:t>
            </a:r>
            <a:endParaRPr lang="en-US" sz="1200" dirty="0"/>
          </a:p>
        </p:txBody>
      </p:sp>
      <p:sp>
        <p:nvSpPr>
          <p:cNvPr id="4" name="Text 2"/>
          <p:cNvSpPr/>
          <p:nvPr/>
        </p:nvSpPr>
        <p:spPr>
          <a:xfrm>
            <a:off x="678299" y="1301353"/>
            <a:ext cx="4845129" cy="484465"/>
          </a:xfrm>
          <a:prstGeom prst="rect">
            <a:avLst/>
          </a:prstGeom>
          <a:noFill/>
          <a:ln/>
        </p:spPr>
        <p:txBody>
          <a:bodyPr wrap="none" lIns="0" tIns="0" rIns="0" bIns="0" rtlCol="0" anchor="t"/>
          <a:lstStyle/>
          <a:p>
            <a:pPr algn="l" indent="0" marL="0">
              <a:lnSpc>
                <a:spcPts val="3800"/>
              </a:lnSpc>
              <a:buNone/>
            </a:pPr>
            <a:r>
              <a:rPr lang="en-US" sz="3800" dirty="0">
                <a:solidFill>
                  <a:srgbClr val="2C0306"/>
                </a:solidFill>
                <a:latin typeface="Funnel Display Medium" pitchFamily="34" charset="0"/>
                <a:ea typeface="Funnel Display Medium" pitchFamily="34" charset="-122"/>
                <a:cs typeface="Funnel Display Medium" pitchFamily="34" charset="-120"/>
              </a:rPr>
              <a:t>The Future of ASR</a:t>
            </a:r>
            <a:endParaRPr lang="en-US" sz="3800" dirty="0"/>
          </a:p>
        </p:txBody>
      </p:sp>
      <p:sp>
        <p:nvSpPr>
          <p:cNvPr id="5" name="Text 3"/>
          <p:cNvSpPr/>
          <p:nvPr/>
        </p:nvSpPr>
        <p:spPr>
          <a:xfrm>
            <a:off x="678299" y="1852017"/>
            <a:ext cx="6325076" cy="242292"/>
          </a:xfrm>
          <a:prstGeom prst="rect">
            <a:avLst/>
          </a:prstGeom>
          <a:noFill/>
          <a:ln/>
        </p:spPr>
        <p:txBody>
          <a:bodyPr wrap="none" lIns="0" tIns="0" rIns="0" bIns="0" rtlCol="0" anchor="t"/>
          <a:lstStyle/>
          <a:p>
            <a:pPr algn="l" indent="0" marL="0">
              <a:lnSpc>
                <a:spcPts val="1900"/>
              </a:lnSpc>
              <a:buNone/>
            </a:pPr>
            <a:r>
              <a:rPr lang="en-US" sz="1900" dirty="0">
                <a:solidFill>
                  <a:srgbClr val="2C0306"/>
                </a:solidFill>
                <a:latin typeface="Funnel Display Medium" pitchFamily="34" charset="0"/>
                <a:ea typeface="Funnel Display Medium" pitchFamily="34" charset="-122"/>
                <a:cs typeface="Funnel Display Medium" pitchFamily="34" charset="-120"/>
              </a:rPr>
              <a:t>Balancing global scale with regional phonetic accuracy</a:t>
            </a:r>
            <a:endParaRPr lang="en-US" sz="1900" dirty="0"/>
          </a:p>
        </p:txBody>
      </p:sp>
      <p:sp>
        <p:nvSpPr>
          <p:cNvPr id="6" name="Text 4"/>
          <p:cNvSpPr/>
          <p:nvPr/>
        </p:nvSpPr>
        <p:spPr>
          <a:xfrm>
            <a:off x="678299" y="2342674"/>
            <a:ext cx="13273802" cy="808673"/>
          </a:xfrm>
          <a:prstGeom prst="rect">
            <a:avLst/>
          </a:prstGeom>
          <a:noFill/>
          <a:ln/>
        </p:spPr>
        <p:txBody>
          <a:bodyPr wrap="square" lIns="0" tIns="0" rIns="0" bIns="0" rtlCol="0" anchor="t"/>
          <a:lstStyle/>
          <a:p>
            <a:pPr algn="l" indent="0" marL="0">
              <a:lnSpc>
                <a:spcPts val="2100"/>
              </a:lnSpc>
              <a:buNone/>
            </a:pPr>
            <a:r>
              <a:rPr lang="en-US" sz="1500" dirty="0">
                <a:solidFill>
                  <a:srgbClr val="1E1B1B"/>
                </a:solidFill>
                <a:latin typeface="Nobile" pitchFamily="34" charset="0"/>
                <a:ea typeface="Nobile" pitchFamily="34" charset="-122"/>
                <a:cs typeface="Nobile" pitchFamily="34" charset="-120"/>
              </a:rPr>
              <a:t>The ASR landscape is bifurcating: large-scale global models like Whisper push the frontier of multilingual zero-shot performance, while Indic-specialized architectures like Conformer ASR and IndicWav2Vec ensure that the world's most linguistically diverse region is not left behind. The future lies in architectures that can do both.</a:t>
            </a:r>
            <a:endParaRPr lang="en-US" sz="1500" dirty="0"/>
          </a:p>
        </p:txBody>
      </p:sp>
      <p:sp>
        <p:nvSpPr>
          <p:cNvPr id="7" name="Shape 5"/>
          <p:cNvSpPr/>
          <p:nvPr/>
        </p:nvSpPr>
        <p:spPr>
          <a:xfrm>
            <a:off x="678299" y="3337560"/>
            <a:ext cx="6554153" cy="2993708"/>
          </a:xfrm>
          <a:prstGeom prst="roundRect">
            <a:avLst>
              <a:gd name="adj" fmla="val 2719"/>
            </a:avLst>
          </a:prstGeom>
          <a:solidFill>
            <a:srgbClr val="FAFAFA"/>
          </a:solidFill>
          <a:ln w="22860">
            <a:solidFill>
              <a:srgbClr val="2794F5"/>
            </a:solidFill>
            <a:prstDash val="solid"/>
          </a:ln>
        </p:spPr>
      </p:sp>
      <p:sp>
        <p:nvSpPr>
          <p:cNvPr id="8" name="Shape 6"/>
          <p:cNvSpPr/>
          <p:nvPr/>
        </p:nvSpPr>
        <p:spPr>
          <a:xfrm>
            <a:off x="701159" y="3360420"/>
            <a:ext cx="6508433" cy="581382"/>
          </a:xfrm>
          <a:prstGeom prst="roundRect">
            <a:avLst>
              <a:gd name="adj" fmla="val 9283"/>
            </a:avLst>
          </a:prstGeom>
          <a:solidFill>
            <a:srgbClr val="2794F5"/>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10000" y="3505795"/>
            <a:ext cx="290632" cy="290632"/>
          </a:xfrm>
          <a:prstGeom prst="rect">
            <a:avLst/>
          </a:prstGeom>
        </p:spPr>
      </p:pic>
      <p:sp>
        <p:nvSpPr>
          <p:cNvPr id="10" name="Text 7"/>
          <p:cNvSpPr/>
          <p:nvPr/>
        </p:nvSpPr>
        <p:spPr>
          <a:xfrm>
            <a:off x="894874" y="4107299"/>
            <a:ext cx="2907030" cy="290751"/>
          </a:xfrm>
          <a:prstGeom prst="rect">
            <a:avLst/>
          </a:prstGeom>
          <a:noFill/>
          <a:ln/>
        </p:spPr>
        <p:txBody>
          <a:bodyPr wrap="none" lIns="0" tIns="0" rIns="0" bIns="0" rtlCol="0" anchor="t"/>
          <a:lstStyle/>
          <a:p>
            <a:pPr algn="l" indent="0" marL="0">
              <a:lnSpc>
                <a:spcPts val="2250"/>
              </a:lnSpc>
              <a:buNone/>
            </a:pPr>
            <a:r>
              <a:rPr lang="en-US" sz="2250" dirty="0">
                <a:solidFill>
                  <a:srgbClr val="1E1B1B"/>
                </a:solidFill>
                <a:latin typeface="Funnel Display Medium" pitchFamily="34" charset="0"/>
                <a:ea typeface="Funnel Display Medium" pitchFamily="34" charset="-122"/>
                <a:cs typeface="Funnel Display Medium" pitchFamily="34" charset="-120"/>
              </a:rPr>
              <a:t>Global Scale Models</a:t>
            </a:r>
            <a:endParaRPr lang="en-US" sz="2250" dirty="0"/>
          </a:p>
        </p:txBody>
      </p:sp>
      <p:sp>
        <p:nvSpPr>
          <p:cNvPr id="11" name="Text 8"/>
          <p:cNvSpPr/>
          <p:nvPr/>
        </p:nvSpPr>
        <p:spPr>
          <a:xfrm>
            <a:off x="894874" y="4497348"/>
            <a:ext cx="6121003" cy="1347788"/>
          </a:xfrm>
          <a:prstGeom prst="rect">
            <a:avLst/>
          </a:prstGeom>
          <a:noFill/>
          <a:ln/>
        </p:spPr>
        <p:txBody>
          <a:bodyPr wrap="square" lIns="0" tIns="0" rIns="0" bIns="0" rtlCol="0" anchor="t"/>
          <a:lstStyle/>
          <a:p>
            <a:pPr algn="l" indent="0" marL="0">
              <a:lnSpc>
                <a:spcPts val="2100"/>
              </a:lnSpc>
              <a:buNone/>
            </a:pPr>
            <a:r>
              <a:rPr lang="en-US" sz="1500" dirty="0">
                <a:solidFill>
                  <a:srgbClr val="1E1B1B"/>
                </a:solidFill>
                <a:latin typeface="Nobile" pitchFamily="34" charset="0"/>
                <a:ea typeface="Nobile" pitchFamily="34" charset="-122"/>
                <a:cs typeface="Nobile" pitchFamily="34" charset="-120"/>
              </a:rPr>
              <a:t>Foundation models like Whisper V3 Turbo set the benchmark for breadth — 99+ languages, massive training data, and speed-optimized inference. They establish the zero-shot baseline that specialized models must meet or exceed on regional benchmarks to justify deployment complexity.</a:t>
            </a:r>
            <a:endParaRPr lang="en-US" sz="1500" dirty="0"/>
          </a:p>
        </p:txBody>
      </p:sp>
      <p:sp>
        <p:nvSpPr>
          <p:cNvPr id="12" name="Shape 9"/>
          <p:cNvSpPr/>
          <p:nvPr/>
        </p:nvSpPr>
        <p:spPr>
          <a:xfrm>
            <a:off x="7397948" y="3337560"/>
            <a:ext cx="6554153" cy="2993708"/>
          </a:xfrm>
          <a:prstGeom prst="roundRect">
            <a:avLst>
              <a:gd name="adj" fmla="val 2719"/>
            </a:avLst>
          </a:prstGeom>
          <a:solidFill>
            <a:srgbClr val="FAFAFA"/>
          </a:solidFill>
          <a:ln w="22860">
            <a:solidFill>
              <a:srgbClr val="FDD35D"/>
            </a:solidFill>
            <a:prstDash val="solid"/>
          </a:ln>
        </p:spPr>
      </p:sp>
      <p:sp>
        <p:nvSpPr>
          <p:cNvPr id="13" name="Shape 10"/>
          <p:cNvSpPr/>
          <p:nvPr/>
        </p:nvSpPr>
        <p:spPr>
          <a:xfrm>
            <a:off x="7420808" y="3360420"/>
            <a:ext cx="6508433" cy="581382"/>
          </a:xfrm>
          <a:prstGeom prst="roundRect">
            <a:avLst>
              <a:gd name="adj" fmla="val 9283"/>
            </a:avLst>
          </a:prstGeom>
          <a:solidFill>
            <a:srgbClr val="FDD35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29649" y="3505795"/>
            <a:ext cx="290632" cy="290632"/>
          </a:xfrm>
          <a:prstGeom prst="rect">
            <a:avLst/>
          </a:prstGeom>
        </p:spPr>
      </p:pic>
      <p:sp>
        <p:nvSpPr>
          <p:cNvPr id="15" name="Text 11"/>
          <p:cNvSpPr/>
          <p:nvPr/>
        </p:nvSpPr>
        <p:spPr>
          <a:xfrm>
            <a:off x="7614523" y="4107299"/>
            <a:ext cx="4508183" cy="290751"/>
          </a:xfrm>
          <a:prstGeom prst="rect">
            <a:avLst/>
          </a:prstGeom>
          <a:noFill/>
          <a:ln/>
        </p:spPr>
        <p:txBody>
          <a:bodyPr wrap="none" lIns="0" tIns="0" rIns="0" bIns="0" rtlCol="0" anchor="t"/>
          <a:lstStyle/>
          <a:p>
            <a:pPr algn="l" indent="0" marL="0">
              <a:lnSpc>
                <a:spcPts val="2250"/>
              </a:lnSpc>
              <a:buNone/>
            </a:pPr>
            <a:r>
              <a:rPr lang="en-US" sz="2250" dirty="0">
                <a:solidFill>
                  <a:srgbClr val="1E1B1B"/>
                </a:solidFill>
                <a:latin typeface="Funnel Display Medium" pitchFamily="34" charset="0"/>
                <a:ea typeface="Funnel Display Medium" pitchFamily="34" charset="-122"/>
                <a:cs typeface="Funnel Display Medium" pitchFamily="34" charset="-120"/>
              </a:rPr>
              <a:t>Regional Phonetic Specialization</a:t>
            </a:r>
            <a:endParaRPr lang="en-US" sz="2250" dirty="0"/>
          </a:p>
        </p:txBody>
      </p:sp>
      <p:sp>
        <p:nvSpPr>
          <p:cNvPr id="16" name="Text 12"/>
          <p:cNvSpPr/>
          <p:nvPr/>
        </p:nvSpPr>
        <p:spPr>
          <a:xfrm>
            <a:off x="7614523" y="4497348"/>
            <a:ext cx="6121003" cy="1617345"/>
          </a:xfrm>
          <a:prstGeom prst="rect">
            <a:avLst/>
          </a:prstGeom>
          <a:noFill/>
          <a:ln/>
        </p:spPr>
        <p:txBody>
          <a:bodyPr wrap="square" lIns="0" tIns="0" rIns="0" bIns="0" rtlCol="0" anchor="t"/>
          <a:lstStyle/>
          <a:p>
            <a:pPr algn="l" indent="0" marL="0">
              <a:lnSpc>
                <a:spcPts val="2100"/>
              </a:lnSpc>
              <a:buNone/>
            </a:pPr>
            <a:r>
              <a:rPr lang="en-US" sz="1500" dirty="0">
                <a:solidFill>
                  <a:srgbClr val="1E1B1B"/>
                </a:solidFill>
                <a:latin typeface="Nobile" pitchFamily="34" charset="0"/>
                <a:ea typeface="Nobile" pitchFamily="34" charset="-122"/>
                <a:cs typeface="Nobile" pitchFamily="34" charset="-120"/>
              </a:rPr>
              <a:t>Indic Conformer and IndicWav2Vec demonstrate that targeted architectures — trained on diverse Indic corpora via supervised or self-supervised methods — achieve superior WER on Indian languages. Regional phonetic nuance, tonal variation, and code-switching demand specialized model design that general-purpose models underserve.</a:t>
            </a:r>
            <a:endParaRPr lang="en-US" sz="1500" dirty="0"/>
          </a:p>
        </p:txBody>
      </p:sp>
      <p:sp>
        <p:nvSpPr>
          <p:cNvPr id="17" name="Text 13"/>
          <p:cNvSpPr/>
          <p:nvPr/>
        </p:nvSpPr>
        <p:spPr>
          <a:xfrm>
            <a:off x="678299" y="6517481"/>
            <a:ext cx="13273802" cy="808673"/>
          </a:xfrm>
          <a:prstGeom prst="rect">
            <a:avLst/>
          </a:prstGeom>
          <a:noFill/>
          <a:ln/>
        </p:spPr>
        <p:txBody>
          <a:bodyPr wrap="square" lIns="0" tIns="0" rIns="0" bIns="0" rtlCol="0" anchor="t"/>
          <a:lstStyle/>
          <a:p>
            <a:pPr algn="l" indent="0" marL="0">
              <a:lnSpc>
                <a:spcPts val="2100"/>
              </a:lnSpc>
              <a:buNone/>
            </a:pPr>
            <a:r>
              <a:rPr lang="en-US" sz="1500" b="1" dirty="0">
                <a:solidFill>
                  <a:srgbClr val="1E1B1B"/>
                </a:solidFill>
                <a:latin typeface="Nobile" pitchFamily="34" charset="0"/>
                <a:ea typeface="Nobile" pitchFamily="34" charset="-122"/>
                <a:cs typeface="Nobile" pitchFamily="34" charset="-120"/>
              </a:rPr>
              <a:t>Key Takeaway:</a:t>
            </a:r>
            <a:pPr algn="l" indent="0" marL="0">
              <a:lnSpc>
                <a:spcPts val="2100"/>
              </a:lnSpc>
              <a:buNone/>
            </a:pPr>
            <a:r>
              <a:rPr lang="en-US" sz="1500" dirty="0">
                <a:solidFill>
                  <a:srgbClr val="1E1B1B"/>
                </a:solidFill>
                <a:latin typeface="Nobile" pitchFamily="34" charset="0"/>
                <a:ea typeface="Nobile" pitchFamily="34" charset="-122"/>
                <a:cs typeface="Nobile" pitchFamily="34" charset="-120"/>
              </a:rPr>
              <a:t> The next generation of production ASR systems will likely adopt a </a:t>
            </a:r>
            <a:pPr algn="l" indent="0" marL="0">
              <a:lnSpc>
                <a:spcPts val="2100"/>
              </a:lnSpc>
              <a:buNone/>
            </a:pPr>
            <a:r>
              <a:rPr lang="en-US" sz="1500" b="1" dirty="0">
                <a:solidFill>
                  <a:srgbClr val="1E1B1B"/>
                </a:solidFill>
                <a:latin typeface="Nobile" pitchFamily="34" charset="0"/>
                <a:ea typeface="Nobile" pitchFamily="34" charset="-122"/>
                <a:cs typeface="Nobile" pitchFamily="34" charset="-120"/>
              </a:rPr>
              <a:t>hybrid strategy</a:t>
            </a:r>
            <a:pPr algn="l" indent="0" marL="0">
              <a:lnSpc>
                <a:spcPts val="2100"/>
              </a:lnSpc>
              <a:buNone/>
            </a:pPr>
            <a:r>
              <a:rPr lang="en-US" sz="1500" dirty="0">
                <a:solidFill>
                  <a:srgbClr val="1E1B1B"/>
                </a:solidFill>
                <a:latin typeface="Nobile" pitchFamily="34" charset="0"/>
                <a:ea typeface="Nobile" pitchFamily="34" charset="-122"/>
                <a:cs typeface="Nobile" pitchFamily="34" charset="-120"/>
              </a:rPr>
              <a:t> — leveraging globally pre-trained encoders fine-tuned on curated Indic corpora, combining the acoustic breadth of models like Whisper with the phonetic depth of AI4Bharat's research ecosystem.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2026-03-30T01:17:37Z</dcterms:created>
  <dcterms:modified xsi:type="dcterms:W3CDTF">2026-03-30T01:17:37Z</dcterms:modified>
</cp:coreProperties>
</file>